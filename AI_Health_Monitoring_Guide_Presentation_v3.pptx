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2"/>
    <p:sldId id="267" r:id="rId11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1.xml"/><Relationship Id="rId12" Type="http://schemas.openxmlformats.org/officeDocument/2006/relationships/slide" Target="slides/slide10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Training</c:v>
                  </c:pt>
                  <c:pt idx="1">
                    <c:v>Validation</c:v>
                  </c:pt>
                  <c:pt idx="2">
                    <c:v>Testing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0.9878</c:v>
                </c:pt>
                <c:pt idx="2">
                  <c:v>0.9902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Weighted F1</c:v>
                </c:pt>
              </c:strCache>
            </c:strRef>
          </c:tx>
          <c:spPr>
            <a:solidFill>
              <a:srgbClr val="22D3E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Training</c:v>
                  </c:pt>
                  <c:pt idx="1">
                    <c:v>Validation</c:v>
                  </c:pt>
                  <c:pt idx="2">
                    <c:v>Testing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</c:v>
                </c:pt>
                <c:pt idx="1">
                  <c:v>0.9874</c:v>
                </c:pt>
                <c:pt idx="2">
                  <c:v>0.9901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95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01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as an AI-powered health monitoring assistant. Mention that it predicts risk from patient readings and explains results using GenAI layers.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core problem is not collecting readings, but understanding them. Our project tries to make the interpretation clear and usable.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full flow from user input to ML prediction and GenAI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that the model does not only use today’s readings. It also uses history and engineered features to capture trends.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that multiple models were tested, but LightGBM was chosen because it had the strongest overall testing performance.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numbers clearly. Be honest that rare Critical class evaluation needs more samples.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these GenAI layers make the app more human-friendly and interactive, rather than just showing a raw prediction.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how the pipeline works at a high level: data, feature engineering, ML prediction, GenAI outputs, and Streamlit interface.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explain the demo in a simple sequence. It helps the audience understand before seeing the live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by being honest about limitations while showing clear future 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LTH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640080"/>
            <a:ext cx="3291840" cy="3291840"/>
          </a:xfrm>
          <a:prstGeom prst="arc">
            <a:avLst/>
          </a:prstGeom>
          <a:noFill/>
          <a:ln w="12700">
            <a:solidFill>
              <a:srgbClr val="1E40AF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05840" y="4937760"/>
            <a:ext cx="2926080" cy="2926080"/>
          </a:xfrm>
          <a:prstGeom prst="arc">
            <a:avLst/>
          </a:prstGeom>
          <a:noFill/>
          <a:ln w="12700">
            <a:solidFill>
              <a:srgbClr val="0E7490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932688"/>
            <a:ext cx="64008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Health Monitoring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Guide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12648" y="2395728"/>
            <a:ext cx="5943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</a:rPr>
              <a:t>A LightGBM-powered health risk prediction app with Gemini explanation, RAG, Q&amp;A, weekly insight and voice summary.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12648" y="3090672"/>
            <a:ext cx="4343400" cy="301752"/>
          </a:xfrm>
          <a:prstGeom prst="roundRect">
            <a:avLst>
              <a:gd name="adj" fmla="val 24242"/>
            </a:avLst>
          </a:prstGeom>
          <a:solidFill>
            <a:srgbClr val="14B8A6">
              <a:alpha val="85000"/>
            </a:srgbClr>
          </a:solidFill>
          <a:ln w="12700">
            <a:solidFill>
              <a:srgbClr val="14B8A6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3159252"/>
            <a:ext cx="4142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Main file: health_monitor_lightgbm_voice_weekly_v2_css_fixed_v2.py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315200" y="914400"/>
            <a:ext cx="3840480" cy="4389120"/>
          </a:xfrm>
          <a:prstGeom prst="roundRect">
            <a:avLst>
              <a:gd name="adj" fmla="val 2857"/>
            </a:avLst>
          </a:prstGeom>
          <a:solidFill>
            <a:srgbClr val="0F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26680" y="1325880"/>
            <a:ext cx="2971800" cy="2971800"/>
          </a:xfrm>
          <a:prstGeom prst="ellipse">
            <a:avLst/>
          </a:prstGeom>
          <a:solidFill>
            <a:srgbClr val="0B1220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82128" y="1481328"/>
            <a:ext cx="2651760" cy="2651760"/>
          </a:xfrm>
          <a:prstGeom prst="arc">
            <a:avLst/>
          </a:prstGeom>
          <a:noFill/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41080" y="202996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EF4444"/>
                </a:solidFill>
              </a:rPr>
              <a:t>❤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8019288" y="431596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Risk: Medium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818120" y="47091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Patient monitoring assistant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" y="5120640"/>
            <a:ext cx="2194560" cy="969264"/>
          </a:xfrm>
          <a:prstGeom prst="roundRect">
            <a:avLst>
              <a:gd name="adj" fmla="val 1132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5285232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BD5E1"/>
                </a:solidFill>
              </a:rPr>
              <a:t>Model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77240" y="5559552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</a:rPr>
              <a:t>LightGBM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017520" y="5120640"/>
            <a:ext cx="2194560" cy="969264"/>
          </a:xfrm>
          <a:prstGeom prst="roundRect">
            <a:avLst>
              <a:gd name="adj" fmla="val 1132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82112" y="5285232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BD5E1"/>
                </a:solidFill>
              </a:rPr>
              <a:t>GenAI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182112" y="5559552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</a:rPr>
              <a:t>Gemini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5422392" y="5120640"/>
            <a:ext cx="2194560" cy="969264"/>
          </a:xfrm>
          <a:prstGeom prst="roundRect">
            <a:avLst>
              <a:gd name="adj" fmla="val 1132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86984" y="5285232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BD5E1"/>
                </a:solidFill>
              </a:rPr>
              <a:t>Interface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586984" y="5559552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78BFA"/>
                </a:solidFill>
              </a:rPr>
              <a:t>Streamlit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02920" y="6528816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AI Health Monitoring Guide | LightGBM + GenAI + RAG + Voice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640080"/>
            <a:ext cx="3291840" cy="3291840"/>
          </a:xfrm>
          <a:prstGeom prst="arc">
            <a:avLst/>
          </a:prstGeom>
          <a:noFill/>
          <a:ln w="12700">
            <a:solidFill>
              <a:srgbClr val="1E40AF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05840" y="4937760"/>
            <a:ext cx="2926080" cy="2926080"/>
          </a:xfrm>
          <a:prstGeom prst="arc">
            <a:avLst/>
          </a:prstGeom>
          <a:noFill/>
          <a:ln w="12700">
            <a:solidFill>
              <a:srgbClr val="0E7490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&amp; User Need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8321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Daily health data is available, but interpretation is difficult.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161288"/>
            <a:ext cx="112014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508760"/>
            <a:ext cx="3657600" cy="4251960"/>
          </a:xfrm>
          <a:prstGeom prst="roundRect">
            <a:avLst>
              <a:gd name="adj" fmla="val 3000"/>
            </a:avLst>
          </a:prstGeom>
          <a:solidFill>
            <a:srgbClr val="10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1783080"/>
            <a:ext cx="512064" cy="512064"/>
          </a:xfrm>
          <a:prstGeom prst="ellipse">
            <a:avLst/>
          </a:prstGeom>
          <a:solidFill>
            <a:srgbClr val="14B8A6">
              <a:alpha val="95000"/>
            </a:srgbClr>
          </a:solidFill>
          <a:ln w="12700">
            <a:solidFill>
              <a:srgbClr val="14B8A6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8562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👵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600200" y="18105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Who is affected?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14400" y="2606040"/>
            <a:ext cx="292608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</a:rPr>
              <a:t>Elderly patients with chronic conditions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</a:rPr>
              <a:t>Caregivers who need simple guidance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</a:rPr>
              <a:t>Families monitoring readings every day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26280" y="1508760"/>
            <a:ext cx="3291840" cy="4251960"/>
          </a:xfrm>
          <a:prstGeom prst="roundRect">
            <a:avLst>
              <a:gd name="adj" fmla="val 3333"/>
            </a:avLst>
          </a:prstGeom>
          <a:solidFill>
            <a:srgbClr val="10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00600" y="1783080"/>
            <a:ext cx="512064" cy="512064"/>
          </a:xfrm>
          <a:prstGeom prst="ellipse">
            <a:avLst/>
          </a:prstGeom>
          <a:solidFill>
            <a:srgbClr val="F59E0B">
              <a:alpha val="95000"/>
            </a:srgbClr>
          </a:solidFill>
          <a:ln w="12700">
            <a:solidFill>
              <a:srgbClr val="F59E0B">
                <a:alpha val="8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8032" y="18562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📉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440680" y="18105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What goes wrong?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800600" y="2606040"/>
            <a:ext cx="260604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</a:rPr>
              <a:t>One day’s reading can mislead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</a:rPr>
              <a:t>Trends are hard to interpret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</a:rPr>
              <a:t>Generic alerts do not explain why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028432" y="1508760"/>
            <a:ext cx="3474720" cy="4251960"/>
          </a:xfrm>
          <a:prstGeom prst="roundRect">
            <a:avLst>
              <a:gd name="adj" fmla="val 3158"/>
            </a:avLst>
          </a:prstGeom>
          <a:solidFill>
            <a:srgbClr val="10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21040" y="1783080"/>
            <a:ext cx="512064" cy="512064"/>
          </a:xfrm>
          <a:prstGeom prst="ellipse">
            <a:avLst/>
          </a:prstGeom>
          <a:solidFill>
            <a:srgbClr val="22D3EE">
              <a:alpha val="95000"/>
            </a:srgbClr>
          </a:solidFill>
          <a:ln w="12700">
            <a:solidFill>
              <a:srgbClr val="22D3EE">
                <a:alpha val="8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48472" y="18562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💡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961120" y="18105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Our opportunity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8321040" y="2606040"/>
            <a:ext cx="274320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</a:rPr>
              <a:t>Use 3–5 day history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</a:rPr>
              <a:t>Predict risk level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</a:rPr>
              <a:t>Explain in patient-friendly language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02920" y="6528816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AI Health Monitoring Guide | LightGBM + GenAI + RAG + Voice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640080"/>
            <a:ext cx="3291840" cy="3291840"/>
          </a:xfrm>
          <a:prstGeom prst="arc">
            <a:avLst/>
          </a:prstGeom>
          <a:noFill/>
          <a:ln w="12700">
            <a:solidFill>
              <a:srgbClr val="1E40AF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05840" y="4937760"/>
            <a:ext cx="2926080" cy="2926080"/>
          </a:xfrm>
          <a:prstGeom prst="arc">
            <a:avLst/>
          </a:prstGeom>
          <a:noFill/>
          <a:ln w="12700">
            <a:solidFill>
              <a:srgbClr val="0E7490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Proposed Solution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8321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A hybrid ML + GenAI health monitoring assistant.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161288"/>
            <a:ext cx="112014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2606040"/>
            <a:ext cx="594360" cy="0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85800" y="2103120"/>
            <a:ext cx="2148840" cy="1170432"/>
          </a:xfrm>
          <a:prstGeom prst="roundRect">
            <a:avLst>
              <a:gd name="adj" fmla="val 9375"/>
            </a:avLst>
          </a:prstGeom>
          <a:solidFill>
            <a:srgbClr val="10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226771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User enters readings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68680" y="267004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glucose, BP, pulse, cholesterol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532120" y="2606040"/>
            <a:ext cx="594360" cy="0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474720" y="2103120"/>
            <a:ext cx="2148840" cy="1170432"/>
          </a:xfrm>
          <a:prstGeom prst="roundRect">
            <a:avLst>
              <a:gd name="adj" fmla="val 9375"/>
            </a:avLst>
          </a:prstGeom>
          <a:solidFill>
            <a:srgbClr val="10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39312" y="226771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History features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657600" y="267004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3-day and 5-day averages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321040" y="2606040"/>
            <a:ext cx="594360" cy="0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263640" y="2103120"/>
            <a:ext cx="2148840" cy="1170432"/>
          </a:xfrm>
          <a:prstGeom prst="roundRect">
            <a:avLst>
              <a:gd name="adj" fmla="val 9375"/>
            </a:avLst>
          </a:prstGeom>
          <a:solidFill>
            <a:srgbClr val="10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28232" y="226771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LightGBM model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446520" y="267004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predicts risk label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052560" y="2103120"/>
            <a:ext cx="2148840" cy="1170432"/>
          </a:xfrm>
          <a:prstGeom prst="roundRect">
            <a:avLst>
              <a:gd name="adj" fmla="val 9375"/>
            </a:avLst>
          </a:prstGeom>
          <a:solidFill>
            <a:srgbClr val="10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17152" y="226771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GenAI layer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235440" y="267004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explains + answers + voice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143000" y="3977640"/>
            <a:ext cx="9829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Final output: Risk Label + Explanation + Weekly Trend + Voice Summary + Q&amp;A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4251960" y="4800600"/>
            <a:ext cx="3657600" cy="301752"/>
          </a:xfrm>
          <a:prstGeom prst="roundRect">
            <a:avLst>
              <a:gd name="adj" fmla="val 24242"/>
            </a:avLst>
          </a:prstGeom>
          <a:solidFill>
            <a:srgbClr val="A78BFA">
              <a:alpha val="85000"/>
            </a:srgbClr>
          </a:solidFill>
          <a:ln w="12700">
            <a:solidFill>
              <a:srgbClr val="A78BFA">
                <a:alpha val="7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52544" y="4869180"/>
            <a:ext cx="3456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Designed for demo, presentation and academic evaluation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02920" y="6528816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AI Health Monitoring Guide | LightGBM + GenAI + RAG + Voice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640080"/>
            <a:ext cx="3291840" cy="3291840"/>
          </a:xfrm>
          <a:prstGeom prst="arc">
            <a:avLst/>
          </a:prstGeom>
          <a:noFill/>
          <a:ln w="12700">
            <a:solidFill>
              <a:srgbClr val="1E40AF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05840" y="4937760"/>
            <a:ext cx="2926080" cy="2926080"/>
          </a:xfrm>
          <a:prstGeom prst="arc">
            <a:avLst/>
          </a:prstGeom>
          <a:noFill/>
          <a:ln w="12700">
            <a:solidFill>
              <a:srgbClr val="0E7490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&amp; Feature Engineering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8321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The model uses both current readings and recent history-aware features.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161288"/>
            <a:ext cx="112014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463040"/>
            <a:ext cx="3566160" cy="4526280"/>
          </a:xfrm>
          <a:prstGeom prst="roundRect">
            <a:avLst>
              <a:gd name="adj" fmla="val 3077"/>
            </a:avLst>
          </a:prstGeom>
          <a:solidFill>
            <a:srgbClr val="10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783080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</a:rPr>
              <a:t>Input columns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2148840"/>
            <a:ext cx="2880360" cy="2468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</a:rPr>
              <a:t>Patient ID, Date, Day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</a:rPr>
              <a:t>Age, Gender, BMI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</a:rPr>
              <a:t>Blood Glucose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</a:rPr>
              <a:t>Systolic / Diastolic BP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</a:rPr>
              <a:t>Pulse, Cholesterol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</a:rPr>
              <a:t>Diabetes, Hypertension, Heart Disease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43400" y="1463040"/>
            <a:ext cx="3566160" cy="4526280"/>
          </a:xfrm>
          <a:prstGeom prst="roundRect">
            <a:avLst>
              <a:gd name="adj" fmla="val 3077"/>
            </a:avLst>
          </a:prstGeom>
          <a:solidFill>
            <a:srgbClr val="10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783080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History features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17720" y="2148840"/>
            <a:ext cx="2834640" cy="2468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</a:rPr>
              <a:t>3-day previous average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</a:rPr>
              <a:t>5-day previous average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</a:rPr>
              <a:t>Difference from yesterday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</a:rPr>
              <a:t>Difference from 3-day average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</a:rPr>
              <a:t>High-risk days in last 5 days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92440" y="1463040"/>
            <a:ext cx="3520440" cy="4526280"/>
          </a:xfrm>
          <a:prstGeom prst="roundRect">
            <a:avLst>
              <a:gd name="adj" fmla="val 3117"/>
            </a:avLst>
          </a:prstGeom>
          <a:solidFill>
            <a:srgbClr val="10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1783080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Guideline features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366760" y="2148840"/>
            <a:ext cx="2834640" cy="2468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</a:rPr>
              <a:t>BP stage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</a:rPr>
              <a:t>Glucose band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</a:rPr>
              <a:t>Cholesterol band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</a:rPr>
              <a:t>Comorbidity count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</a:rPr>
              <a:t>Rule-based risk score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6528816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AI Health Monitoring Guide | LightGBM + GenAI + RAG + Voice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640080"/>
            <a:ext cx="3291840" cy="3291840"/>
          </a:xfrm>
          <a:prstGeom prst="arc">
            <a:avLst/>
          </a:prstGeom>
          <a:noFill/>
          <a:ln w="12700">
            <a:solidFill>
              <a:srgbClr val="1E40AF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05840" y="4937760"/>
            <a:ext cx="2926080" cy="2926080"/>
          </a:xfrm>
          <a:prstGeom prst="arc">
            <a:avLst/>
          </a:prstGeom>
          <a:noFill/>
          <a:ln w="12700">
            <a:solidFill>
              <a:srgbClr val="0E7490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Development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8321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LightGBM selected as final model for structured health-risk prediction.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161288"/>
            <a:ext cx="112014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463040"/>
            <a:ext cx="2331720" cy="969264"/>
          </a:xfrm>
          <a:prstGeom prst="roundRect">
            <a:avLst>
              <a:gd name="adj" fmla="val 1132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27632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BD5E1"/>
                </a:solidFill>
              </a:rPr>
              <a:t>Training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04672" y="1901952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</a:rPr>
              <a:t>70%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154680" y="1463040"/>
            <a:ext cx="2331720" cy="969264"/>
          </a:xfrm>
          <a:prstGeom prst="roundRect">
            <a:avLst>
              <a:gd name="adj" fmla="val 1132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9272" y="1627632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BD5E1"/>
                </a:solidFill>
              </a:rPr>
              <a:t>Validation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319272" y="1901952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</a:rPr>
              <a:t>20%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669280" y="1463040"/>
            <a:ext cx="2331720" cy="969264"/>
          </a:xfrm>
          <a:prstGeom prst="roundRect">
            <a:avLst>
              <a:gd name="adj" fmla="val 1132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33872" y="1627632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BD5E1"/>
                </a:solidFill>
              </a:rPr>
              <a:t>Testing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833872" y="1901952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10%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366760" y="1463040"/>
            <a:ext cx="2834640" cy="969264"/>
          </a:xfrm>
          <a:prstGeom prst="roundRect">
            <a:avLst>
              <a:gd name="adj" fmla="val 1132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31352" y="162763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BD5E1"/>
                </a:solidFill>
              </a:rPr>
              <a:t>Final Model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531352" y="19019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</a:rPr>
              <a:t>LightGBM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85800" y="2971800"/>
            <a:ext cx="5074920" cy="2148840"/>
          </a:xfrm>
          <a:prstGeom prst="roundRect">
            <a:avLst>
              <a:gd name="adj" fmla="val 5106"/>
            </a:avLst>
          </a:prstGeom>
          <a:solidFill>
            <a:srgbClr val="10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3246120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Why LightGBM?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" y="3611880"/>
            <a:ext cx="425196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</a:rPr>
              <a:t>Strong for tabular datasets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</a:rPr>
              <a:t>Fast training and prediction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</a:rPr>
              <a:t>Handles non-linear health patterns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</a:rPr>
              <a:t>Works well with engineered trend features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080760" y="2971800"/>
            <a:ext cx="5074920" cy="2148840"/>
          </a:xfrm>
          <a:prstGeom prst="roundRect">
            <a:avLst>
              <a:gd name="adj" fmla="val 5106"/>
            </a:avLst>
          </a:prstGeom>
          <a:solidFill>
            <a:srgbClr val="10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324612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</a:rPr>
              <a:t>Model alternatives tested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55080" y="3611880"/>
            <a:ext cx="425196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</a:rPr>
              <a:t>Random Forest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</a:rPr>
              <a:t>XGBoost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</a:rPr>
              <a:t>LightGBM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</a:rPr>
              <a:t>Other PyCaret baseline models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02920" y="6528816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AI Health Monitoring Guide | LightGBM + GenAI + RAG + Voice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640080"/>
            <a:ext cx="3291840" cy="3291840"/>
          </a:xfrm>
          <a:prstGeom prst="arc">
            <a:avLst/>
          </a:prstGeom>
          <a:noFill/>
          <a:ln w="12700">
            <a:solidFill>
              <a:srgbClr val="1E40AF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05840" y="4937760"/>
            <a:ext cx="2926080" cy="2926080"/>
          </a:xfrm>
          <a:prstGeom prst="arc">
            <a:avLst/>
          </a:prstGeom>
          <a:noFill/>
          <a:ln w="12700">
            <a:solidFill>
              <a:srgbClr val="0E7490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Performance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8321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LightGBM performed strongly across training, validation and testing.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161288"/>
            <a:ext cx="112014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graphicFrame>
        <p:nvGraphicFramePr>
          <p:cNvPr id="8" name="Chart 0" descr=""/>
          <p:cNvGraphicFramePr/>
          <p:nvPr/>
        </p:nvGraphicFramePr>
        <p:xfrm>
          <a:off x="731520" y="1417320"/>
          <a:ext cx="61264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7315200" y="1417320"/>
            <a:ext cx="4069080" cy="4023360"/>
          </a:xfrm>
          <a:prstGeom prst="roundRect">
            <a:avLst>
              <a:gd name="adj" fmla="val 2727"/>
            </a:avLst>
          </a:prstGeom>
          <a:solidFill>
            <a:srgbClr val="10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35240" y="1719072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Key results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635240" y="2148840"/>
            <a:ext cx="315468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20" dirty="0">
                <a:solidFill>
                  <a:srgbClr val="CBD5E1"/>
                </a:solidFill>
              </a:rPr>
              <a:t>Training accuracy: 100%</a:t>
            </a:r>
            <a:endParaRPr lang="en-US" sz="1420" dirty="0"/>
          </a:p>
          <a:p>
            <a:pPr marL="152400" indent="-152400">
              <a:buSzPct val="100000"/>
              <a:buChar char="•"/>
            </a:pPr>
            <a:r>
              <a:rPr lang="en-US" sz="1420" dirty="0">
                <a:solidFill>
                  <a:srgbClr val="CBD5E1"/>
                </a:solidFill>
              </a:rPr>
              <a:t>Validation accuracy: 98.78%</a:t>
            </a:r>
            <a:endParaRPr lang="en-US" sz="1420" dirty="0"/>
          </a:p>
          <a:p>
            <a:pPr marL="152400" indent="-152400">
              <a:buSzPct val="100000"/>
              <a:buChar char="•"/>
            </a:pPr>
            <a:r>
              <a:rPr lang="en-US" sz="1420" dirty="0">
                <a:solidFill>
                  <a:srgbClr val="CBD5E1"/>
                </a:solidFill>
              </a:rPr>
              <a:t>Testing accuracy: 99.02%</a:t>
            </a:r>
            <a:endParaRPr lang="en-US" sz="1420" dirty="0"/>
          </a:p>
          <a:p>
            <a:pPr marL="152400" indent="-152400">
              <a:buSzPct val="100000"/>
              <a:buChar char="•"/>
            </a:pPr>
            <a:r>
              <a:rPr lang="en-US" sz="1420" dirty="0">
                <a:solidFill>
                  <a:srgbClr val="CBD5E1"/>
                </a:solidFill>
              </a:rPr>
              <a:t>Testing weighted F1: 99.01%</a:t>
            </a:r>
            <a:endParaRPr lang="en-US" sz="1420" dirty="0"/>
          </a:p>
        </p:txBody>
      </p:sp>
      <p:sp>
        <p:nvSpPr>
          <p:cNvPr id="12" name="Text 9"/>
          <p:cNvSpPr/>
          <p:nvPr/>
        </p:nvSpPr>
        <p:spPr>
          <a:xfrm>
            <a:off x="7635240" y="388620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Important limitation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635240" y="4251960"/>
            <a:ext cx="324612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CBD5E1"/>
                </a:solidFill>
              </a:rPr>
              <a:t>Rare critical-risk cases were limited in the split, so rare-class evaluation should be improved in future work.</a:t>
            </a:r>
            <a:endParaRPr lang="en-US" sz="1230" dirty="0"/>
          </a:p>
        </p:txBody>
      </p:sp>
      <p:sp>
        <p:nvSpPr>
          <p:cNvPr id="14" name="Text 11"/>
          <p:cNvSpPr/>
          <p:nvPr/>
        </p:nvSpPr>
        <p:spPr>
          <a:xfrm>
            <a:off x="502920" y="6528816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AI Health Monitoring Guide | LightGBM + GenAI + RAG + Voice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640080"/>
            <a:ext cx="3291840" cy="3291840"/>
          </a:xfrm>
          <a:prstGeom prst="arc">
            <a:avLst/>
          </a:prstGeom>
          <a:noFill/>
          <a:ln w="12700">
            <a:solidFill>
              <a:srgbClr val="1E40AF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05840" y="4937760"/>
            <a:ext cx="2926080" cy="2926080"/>
          </a:xfrm>
          <a:prstGeom prst="arc">
            <a:avLst/>
          </a:prstGeom>
          <a:noFill/>
          <a:ln w="12700">
            <a:solidFill>
              <a:srgbClr val="0E7490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GenAI Integration Layers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8321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The project goes beyond prediction by making outputs explainable and interactive.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161288"/>
            <a:ext cx="112014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481328"/>
            <a:ext cx="3063240" cy="1325880"/>
          </a:xfrm>
          <a:prstGeom prst="roundRect">
            <a:avLst>
              <a:gd name="adj" fmla="val 8276"/>
            </a:avLst>
          </a:prstGeom>
          <a:solidFill>
            <a:srgbClr val="10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" y="1792224"/>
            <a:ext cx="512064" cy="512064"/>
          </a:xfrm>
          <a:prstGeom prst="ellipse">
            <a:avLst/>
          </a:prstGeom>
          <a:solidFill>
            <a:srgbClr val="22D3EE">
              <a:alpha val="95000"/>
            </a:srgbClr>
          </a:solidFill>
          <a:ln w="12700">
            <a:solidFill>
              <a:srgbClr val="22D3EE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264" y="186537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🔎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600200" y="17099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RAG Layer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600200" y="2075688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Retrieves health-guidance snippets before generation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80560" y="1481328"/>
            <a:ext cx="3063240" cy="1325880"/>
          </a:xfrm>
          <a:prstGeom prst="roundRect">
            <a:avLst>
              <a:gd name="adj" fmla="val 8276"/>
            </a:avLst>
          </a:prstGeom>
          <a:solidFill>
            <a:srgbClr val="10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45152" y="1792224"/>
            <a:ext cx="512064" cy="512064"/>
          </a:xfrm>
          <a:prstGeom prst="ellipse">
            <a:avLst/>
          </a:prstGeom>
          <a:solidFill>
            <a:srgbClr val="22C55E">
              <a:alpha val="95000"/>
            </a:srgbClr>
          </a:solidFill>
          <a:ln w="12700">
            <a:solidFill>
              <a:srgbClr val="22C55E">
                <a:alpha val="8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72584" y="186537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✨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303520" y="17099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Gemini Explanation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5303520" y="2075688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Turns prediction into simple patient-friendly language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183880" y="1481328"/>
            <a:ext cx="3063240" cy="1325880"/>
          </a:xfrm>
          <a:prstGeom prst="roundRect">
            <a:avLst>
              <a:gd name="adj" fmla="val 8276"/>
            </a:avLst>
          </a:prstGeom>
          <a:solidFill>
            <a:srgbClr val="10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48472" y="1792224"/>
            <a:ext cx="512064" cy="512064"/>
          </a:xfrm>
          <a:prstGeom prst="ellipse">
            <a:avLst/>
          </a:prstGeom>
          <a:solidFill>
            <a:srgbClr val="A78BFA">
              <a:alpha val="95000"/>
            </a:srgbClr>
          </a:solidFill>
          <a:ln w="12700">
            <a:solidFill>
              <a:srgbClr val="A78BFA">
                <a:alpha val="8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75904" y="186537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💬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9006840" y="17099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Q&amp;A Assistant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9006840" y="2075688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Allows follow-up questions about risk, trends and diet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77240" y="3703320"/>
            <a:ext cx="3063240" cy="1325880"/>
          </a:xfrm>
          <a:prstGeom prst="roundRect">
            <a:avLst>
              <a:gd name="adj" fmla="val 8276"/>
            </a:avLst>
          </a:prstGeom>
          <a:solidFill>
            <a:srgbClr val="10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1832" y="4014216"/>
            <a:ext cx="512064" cy="512064"/>
          </a:xfrm>
          <a:prstGeom prst="ellipse">
            <a:avLst/>
          </a:prstGeom>
          <a:solidFill>
            <a:srgbClr val="F59E0B">
              <a:alpha val="95000"/>
            </a:srgbClr>
          </a:solidFill>
          <a:ln w="12700">
            <a:solidFill>
              <a:srgbClr val="F59E0B">
                <a:alpha val="8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9264" y="408736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📅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600200" y="39319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Weekly Insight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1600200" y="4297680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Summarizes what improved or worsened over 7 days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480560" y="3703320"/>
            <a:ext cx="3063240" cy="1325880"/>
          </a:xfrm>
          <a:prstGeom prst="roundRect">
            <a:avLst>
              <a:gd name="adj" fmla="val 8276"/>
            </a:avLst>
          </a:prstGeom>
          <a:solidFill>
            <a:srgbClr val="10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45152" y="4014216"/>
            <a:ext cx="512064" cy="512064"/>
          </a:xfrm>
          <a:prstGeom prst="ellipse">
            <a:avLst/>
          </a:prstGeom>
          <a:solidFill>
            <a:srgbClr val="14B8A6">
              <a:alpha val="95000"/>
            </a:srgbClr>
          </a:solidFill>
          <a:ln w="12700">
            <a:solidFill>
              <a:srgbClr val="14B8A6">
                <a:alpha val="8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72584" y="408736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🔊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5303520" y="39319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Voice Summary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5303520" y="4297680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Reads a short health summary for easier access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02920" y="6528816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AI Health Monitoring Guide | LightGBM + GenAI + RAG + Voice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640080"/>
            <a:ext cx="3291840" cy="3291840"/>
          </a:xfrm>
          <a:prstGeom prst="arc">
            <a:avLst/>
          </a:prstGeom>
          <a:noFill/>
          <a:ln w="12700">
            <a:solidFill>
              <a:srgbClr val="1E40AF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05840" y="4937760"/>
            <a:ext cx="2926080" cy="2926080"/>
          </a:xfrm>
          <a:prstGeom prst="arc">
            <a:avLst/>
          </a:prstGeom>
          <a:noFill/>
          <a:ln w="12700">
            <a:solidFill>
              <a:srgbClr val="0E7490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8321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A simple Streamlit app connects data, model, RAG and GenAI outputs.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161288"/>
            <a:ext cx="112014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65960" y="2240280"/>
            <a:ext cx="2286000" cy="0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251960" y="2240280"/>
            <a:ext cx="2514600" cy="0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766560" y="2240280"/>
            <a:ext cx="2423160" cy="0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766560" y="2240280"/>
            <a:ext cx="-365760" cy="2697480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189720" y="2240280"/>
            <a:ext cx="-2788920" cy="2697480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31520" y="1828800"/>
            <a:ext cx="2468880" cy="822960"/>
          </a:xfrm>
          <a:prstGeom prst="roundRect">
            <a:avLst>
              <a:gd name="adj" fmla="val 13333"/>
            </a:avLst>
          </a:prstGeom>
          <a:solidFill>
            <a:srgbClr val="102033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199339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Patient Dataset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3017520" y="1828800"/>
            <a:ext cx="2468880" cy="822960"/>
          </a:xfrm>
          <a:prstGeom prst="roundRect">
            <a:avLst>
              <a:gd name="adj" fmla="val 13333"/>
            </a:avLst>
          </a:prstGeom>
          <a:solidFill>
            <a:srgbClr val="102033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54680" y="199339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Preprocessing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+ Feature Engineering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532120" y="1828800"/>
            <a:ext cx="2468880" cy="822960"/>
          </a:xfrm>
          <a:prstGeom prst="roundRect">
            <a:avLst>
              <a:gd name="adj" fmla="val 13333"/>
            </a:avLst>
          </a:prstGeom>
          <a:solidFill>
            <a:srgbClr val="10203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0" y="199339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LightGBM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Risk Prediction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7955280" y="1828800"/>
            <a:ext cx="2468880" cy="822960"/>
          </a:xfrm>
          <a:prstGeom prst="roundRect">
            <a:avLst>
              <a:gd name="adj" fmla="val 13333"/>
            </a:avLst>
          </a:prstGeom>
          <a:solidFill>
            <a:srgbClr val="102033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92440" y="199339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RAG + Gemini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GenAI Outputs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166360" y="4526280"/>
            <a:ext cx="2468880" cy="822960"/>
          </a:xfrm>
          <a:prstGeom prst="roundRect">
            <a:avLst>
              <a:gd name="adj" fmla="val 13333"/>
            </a:avLst>
          </a:prstGeom>
          <a:solidFill>
            <a:srgbClr val="102033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0" y="469087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Streamlit UI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Demo App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965960" y="5715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Main App File: health_monitor_lightgbm_voice_weekly_v2_css_fixed_v2.py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02920" y="6528816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AI Health Monitoring Guide | LightGBM + GenAI + RAG + Voice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640080"/>
            <a:ext cx="3291840" cy="3291840"/>
          </a:xfrm>
          <a:prstGeom prst="arc">
            <a:avLst/>
          </a:prstGeom>
          <a:noFill/>
          <a:ln w="12700">
            <a:solidFill>
              <a:srgbClr val="1E40AF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05840" y="4937760"/>
            <a:ext cx="2926080" cy="2926080"/>
          </a:xfrm>
          <a:prstGeom prst="arc">
            <a:avLst/>
          </a:prstGeom>
          <a:noFill/>
          <a:ln w="12700">
            <a:solidFill>
              <a:srgbClr val="0E7490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Flow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8321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What the evaluator will see while using the app.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161288"/>
            <a:ext cx="112014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572768"/>
            <a:ext cx="4983480" cy="1234440"/>
          </a:xfrm>
          <a:prstGeom prst="roundRect">
            <a:avLst>
              <a:gd name="adj" fmla="val 8889"/>
            </a:avLst>
          </a:prstGeom>
          <a:solidFill>
            <a:srgbClr val="10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892808"/>
            <a:ext cx="502920" cy="50292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98424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45920" y="181965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Select Patient ID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45920" y="219456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94A3B8"/>
                </a:solidFill>
              </a:rPr>
              <a:t>The app immediately updates the patient’s last 5 days of readings.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6309360" y="1572768"/>
            <a:ext cx="4983480" cy="1234440"/>
          </a:xfrm>
          <a:prstGeom prst="roundRect">
            <a:avLst>
              <a:gd name="adj" fmla="val 8889"/>
            </a:avLst>
          </a:prstGeom>
          <a:solidFill>
            <a:srgbClr val="10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37960" y="1892808"/>
            <a:ext cx="502920" cy="50292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198424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269480" y="181965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Enter Today’s Readings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269480" y="219456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94A3B8"/>
                </a:solidFill>
              </a:rPr>
              <a:t>User enters glucose, BP, pulse, cholesterol and health conditions.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685800" y="3886200"/>
            <a:ext cx="4983480" cy="1234440"/>
          </a:xfrm>
          <a:prstGeom prst="roundRect">
            <a:avLst>
              <a:gd name="adj" fmla="val 8889"/>
            </a:avLst>
          </a:prstGeom>
          <a:solidFill>
            <a:srgbClr val="10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4206240"/>
            <a:ext cx="502920" cy="50292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2976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645920" y="413308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Predict Risk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45920" y="4507992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94A3B8"/>
                </a:solidFill>
              </a:rPr>
              <a:t>LightGBM predicts risk label and displays health index information.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6309360" y="3886200"/>
            <a:ext cx="4983480" cy="1234440"/>
          </a:xfrm>
          <a:prstGeom prst="roundRect">
            <a:avLst>
              <a:gd name="adj" fmla="val 8889"/>
            </a:avLst>
          </a:prstGeom>
          <a:solidFill>
            <a:srgbClr val="10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37960" y="4206240"/>
            <a:ext cx="502920" cy="50292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42976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269480" y="413308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Use GenAI Layers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269480" y="4507992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94A3B8"/>
                </a:solidFill>
              </a:rPr>
              <a:t>Generate explanation, weekly insight, voice summary and Q&amp;A.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502920" y="6528816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AI Health Monitoring Guide | LightGBM + GenAI + RAG + Voice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640080"/>
            <a:ext cx="3291840" cy="3291840"/>
          </a:xfrm>
          <a:prstGeom prst="arc">
            <a:avLst/>
          </a:prstGeom>
          <a:noFill/>
          <a:ln w="12700">
            <a:solidFill>
              <a:srgbClr val="1E40AF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05840" y="4937760"/>
            <a:ext cx="2926080" cy="2926080"/>
          </a:xfrm>
          <a:prstGeom prst="arc">
            <a:avLst/>
          </a:prstGeom>
          <a:noFill/>
          <a:ln w="12700">
            <a:solidFill>
              <a:srgbClr val="0E7490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Limitations &amp; Future Scope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8321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Clear next steps to make the system stronger.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161288"/>
            <a:ext cx="112014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417320"/>
            <a:ext cx="5166360" cy="4343400"/>
          </a:xfrm>
          <a:prstGeom prst="roundRect">
            <a:avLst>
              <a:gd name="adj" fmla="val 2526"/>
            </a:avLst>
          </a:prstGeom>
          <a:solidFill>
            <a:srgbClr val="10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73736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Current limitations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2240280"/>
            <a:ext cx="3931920" cy="1737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80" dirty="0">
                <a:solidFill>
                  <a:srgbClr val="CBD5E1"/>
                </a:solidFill>
              </a:rPr>
              <a:t>Gemini free-tier quota may limit live demo</a:t>
            </a:r>
            <a:endParaRPr lang="en-US" sz="1380" dirty="0"/>
          </a:p>
          <a:p>
            <a:pPr marL="152400" indent="-152400">
              <a:buSzPct val="100000"/>
              <a:buChar char="•"/>
            </a:pPr>
            <a:r>
              <a:rPr lang="en-US" sz="1380" dirty="0">
                <a:solidFill>
                  <a:srgbClr val="CBD5E1"/>
                </a:solidFill>
              </a:rPr>
              <a:t>Rare Critical class needs more samples</a:t>
            </a:r>
            <a:endParaRPr lang="en-US" sz="1380" dirty="0"/>
          </a:p>
          <a:p>
            <a:pPr marL="152400" indent="-152400">
              <a:buSzPct val="100000"/>
              <a:buChar char="•"/>
            </a:pPr>
            <a:r>
              <a:rPr lang="en-US" sz="1380" dirty="0">
                <a:solidFill>
                  <a:srgbClr val="CBD5E1"/>
                </a:solidFill>
              </a:rPr>
              <a:t>System is a support tool, not a diagnosis tool</a:t>
            </a:r>
            <a:endParaRPr lang="en-US" sz="1380" dirty="0"/>
          </a:p>
          <a:p>
            <a:pPr marL="152400" indent="-152400">
              <a:buSzPct val="100000"/>
              <a:buChar char="•"/>
            </a:pPr>
            <a:r>
              <a:rPr lang="en-US" sz="1380" dirty="0">
                <a:solidFill>
                  <a:srgbClr val="CBD5E1"/>
                </a:solidFill>
              </a:rPr>
              <a:t>Dataset quality affects model reliability</a:t>
            </a:r>
            <a:endParaRPr lang="en-US" sz="1380" dirty="0"/>
          </a:p>
        </p:txBody>
      </p:sp>
      <p:sp>
        <p:nvSpPr>
          <p:cNvPr id="11" name="Shape 9"/>
          <p:cNvSpPr/>
          <p:nvPr/>
        </p:nvSpPr>
        <p:spPr>
          <a:xfrm>
            <a:off x="6263640" y="1417320"/>
            <a:ext cx="5166360" cy="4343400"/>
          </a:xfrm>
          <a:prstGeom prst="roundRect">
            <a:avLst>
              <a:gd name="adj" fmla="val 2526"/>
            </a:avLst>
          </a:prstGeom>
          <a:solidFill>
            <a:srgbClr val="10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173736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Future improvements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0" y="2240280"/>
            <a:ext cx="3931920" cy="1737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80" dirty="0">
                <a:solidFill>
                  <a:srgbClr val="CBD5E1"/>
                </a:solidFill>
              </a:rPr>
              <a:t>Doctor/caregiver report generator</a:t>
            </a:r>
            <a:endParaRPr lang="en-US" sz="1380" dirty="0"/>
          </a:p>
          <a:p>
            <a:pPr marL="152400" indent="-152400">
              <a:buSzPct val="100000"/>
              <a:buChar char="•"/>
            </a:pPr>
            <a:r>
              <a:rPr lang="en-US" sz="1380" dirty="0">
                <a:solidFill>
                  <a:srgbClr val="CBD5E1"/>
                </a:solidFill>
              </a:rPr>
              <a:t>Autonomous alert escalation</a:t>
            </a:r>
            <a:endParaRPr lang="en-US" sz="1380" dirty="0"/>
          </a:p>
          <a:p>
            <a:pPr marL="152400" indent="-152400">
              <a:buSzPct val="100000"/>
              <a:buChar char="•"/>
            </a:pPr>
            <a:r>
              <a:rPr lang="en-US" sz="1380" dirty="0">
                <a:solidFill>
                  <a:srgbClr val="CBD5E1"/>
                </a:solidFill>
              </a:rPr>
              <a:t>Multilingual Q&amp;A and voice output</a:t>
            </a:r>
            <a:endParaRPr lang="en-US" sz="1380" dirty="0"/>
          </a:p>
          <a:p>
            <a:pPr marL="152400" indent="-152400">
              <a:buSzPct val="100000"/>
              <a:buChar char="•"/>
            </a:pPr>
            <a:r>
              <a:rPr lang="en-US" sz="1380" dirty="0">
                <a:solidFill>
                  <a:srgbClr val="CBD5E1"/>
                </a:solidFill>
              </a:rPr>
              <a:t>Better rare-risk data collection</a:t>
            </a:r>
            <a:endParaRPr lang="en-US" sz="1380" dirty="0"/>
          </a:p>
          <a:p>
            <a:pPr marL="152400" indent="-152400">
              <a:buSzPct val="100000"/>
              <a:buChar char="•"/>
            </a:pPr>
            <a:r>
              <a:rPr lang="en-US" sz="1380" dirty="0">
                <a:solidFill>
                  <a:srgbClr val="CBD5E1"/>
                </a:solidFill>
              </a:rPr>
              <a:t>Deployment with secure API management</a:t>
            </a:r>
            <a:endParaRPr lang="en-US" sz="1380" dirty="0"/>
          </a:p>
        </p:txBody>
      </p:sp>
      <p:sp>
        <p:nvSpPr>
          <p:cNvPr id="14" name="Text 12"/>
          <p:cNvSpPr/>
          <p:nvPr/>
        </p:nvSpPr>
        <p:spPr>
          <a:xfrm>
            <a:off x="1188720" y="608076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</a:rPr>
              <a:t>Final positioning: GenAI-enabled health monitoring assistant with early agentic elements.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" y="6528816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AI Health Monitoring Guide | LightGBM + GenAI + RAG + Voice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App Interface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4048" y="722376"/>
            <a:ext cx="5495544" cy="2249424"/>
          </a:xfrm>
          <a:prstGeom prst="roundRect">
            <a:avLst/>
          </a:prstGeom>
          <a:solidFill>
            <a:srgbClr val="1F2B44"/>
          </a:solidFill>
          <a:ln w="12700">
            <a:solidFill>
              <a:srgbClr val="3A4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pp_interfac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49808"/>
            <a:ext cx="5440680" cy="2194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2980944"/>
            <a:ext cx="5440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C9D6E9"/>
                </a:solidFill>
              </a:rPr>
              <a:t>Patient history &amp; quick snapshot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60" y="722376"/>
            <a:ext cx="5495544" cy="2249424"/>
          </a:xfrm>
          <a:prstGeom prst="roundRect">
            <a:avLst/>
          </a:prstGeom>
          <a:solidFill>
            <a:srgbClr val="1F2B44"/>
          </a:solidFill>
          <a:ln w="12700">
            <a:solidFill>
              <a:srgbClr val="3A4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pp_interfac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92" y="749808"/>
            <a:ext cx="5440680" cy="2194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08192" y="2980944"/>
            <a:ext cx="5440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C9D6E9"/>
                </a:solidFill>
              </a:rPr>
              <a:t>Today's input 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3282696"/>
            <a:ext cx="5495544" cy="2249424"/>
          </a:xfrm>
          <a:prstGeom prst="roundRect">
            <a:avLst/>
          </a:prstGeom>
          <a:solidFill>
            <a:srgbClr val="1F2B44"/>
          </a:solidFill>
          <a:ln w="12700">
            <a:solidFill>
              <a:srgbClr val="3A4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pp_interface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310128"/>
            <a:ext cx="5440680" cy="2194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11480" y="5541264"/>
            <a:ext cx="5440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C9D6E9"/>
                </a:solidFill>
              </a:rPr>
              <a:t>Predicted result &amp; explanation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3282696"/>
            <a:ext cx="5495544" cy="2249424"/>
          </a:xfrm>
          <a:prstGeom prst="roundRect">
            <a:avLst/>
          </a:prstGeom>
          <a:solidFill>
            <a:srgbClr val="1F2B44"/>
          </a:solidFill>
          <a:ln w="12700">
            <a:solidFill>
              <a:srgbClr val="3A4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pp_interface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8192" y="3310128"/>
            <a:ext cx="5440680" cy="21945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08192" y="5541264"/>
            <a:ext cx="5440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C9D6E9"/>
                </a:solidFill>
              </a:rPr>
              <a:t>Voice summary interface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Mahindra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Health Monitoring Guide</dc:title>
  <dc:subject>AI Health Monitoring Guide</dc:subject>
  <dc:creator>OpenAI</dc:creator>
  <cp:lastModifiedBy>OpenAI</cp:lastModifiedBy>
  <cp:revision>1</cp:revision>
  <dcterms:created xsi:type="dcterms:W3CDTF">2026-05-13T06:19:30Z</dcterms:created>
  <dcterms:modified xsi:type="dcterms:W3CDTF">2026-05-13T06:19:30Z</dcterms:modified>
</cp:coreProperties>
</file>