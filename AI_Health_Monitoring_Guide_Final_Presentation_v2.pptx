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2"/>
    <p:sldId id="267" r:id="rId11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Training</c:v>
                  </c:pt>
                  <c:pt idx="1">
                    <c:v>Validation</c:v>
                  </c:pt>
                  <c:pt idx="2">
                    <c:v>Testing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0.9878</c:v>
                </c:pt>
                <c:pt idx="2">
                  <c:v>0.9902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Weighted F1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Training</c:v>
                  </c:pt>
                  <c:pt idx="1">
                    <c:v>Validation</c:v>
                  </c:pt>
                  <c:pt idx="2">
                    <c:v>Testing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0.9874</c:v>
                </c:pt>
                <c:pt idx="2">
                  <c:v>0.9901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9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an AI-powered health monitoring assistant. Mention that it predicts risk from patient readings and explains results using GenAI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core problem is not collecting readings, but understanding them. Our project tries to make the interpretation clear and usable.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full flow from user input to ML prediction and GenAI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the model does not only use today’s readings. It also uses history and engineered features to capture trends.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multiple models were tested, but LightGBM was chosen because it had the strongest overall testing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numbers clearly. Be honest that rare Critical class evaluation needs more samples.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these GenAI layers make the app more human-friendly and interactive, rather than just showing a raw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the pipeline works at a high level: data, feature engineering, ML prediction, GenAI outputs, and Streamlit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explain the demo in a simple sequence. It helps the audience understand before seeing the live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being honest about limitations while showing clear future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LTH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 wrap="square"/>
          <a:p/>
        </p:txBody>
      </p:sp>
      <p:sp>
        <p:nvSpPr>
          <p:cNvPr id="3" name="Shape 1"/>
          <p:cNvSpPr/>
          <p:nvPr/>
        </p:nvSpPr>
        <p:spPr>
          <a:xfrm>
            <a:off x="9875520" y="-640080"/>
            <a:ext cx="3291840" cy="3291840"/>
          </a:xfrm>
          <a:prstGeom prst="arc">
            <a:avLst/>
          </a:prstGeom>
          <a:noFill/>
          <a:ln w="12700">
            <a:solidFill>
              <a:srgbClr val="1E40AF">
                <a:alpha val="55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4" name="Shape 2"/>
          <p:cNvSpPr/>
          <p:nvPr/>
        </p:nvSpPr>
        <p:spPr>
          <a:xfrm>
            <a:off x="-1005840" y="4937760"/>
            <a:ext cx="2926080" cy="2926080"/>
          </a:xfrm>
          <a:prstGeom prst="arc">
            <a:avLst/>
          </a:prstGeom>
          <a:noFill/>
          <a:ln w="12700">
            <a:solidFill>
              <a:srgbClr val="0E7490">
                <a:alpha val="45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5" name="Text 3"/>
          <p:cNvSpPr/>
          <p:nvPr/>
        </p:nvSpPr>
        <p:spPr>
          <a:xfrm>
            <a:off x="594360" y="932688"/>
            <a:ext cx="64008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Health Monitoring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Guide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12648" y="2395728"/>
            <a:ext cx="594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00">
                <a:solidFill>
                  <a:srgbClr val="E6ECF5"/>
                </a:solidFill>
              </a:rPr>
              <a:t>A LightGBM-powered health risk prediction app with Gemini explanation, RAG, Q&amp;A, voice summary, and health-report summarization.</a:t>
            </a:r>
          </a:p>
        </p:txBody>
      </p:sp>
      <p:sp>
        <p:nvSpPr>
          <p:cNvPr id="7" name="Shape 5"/>
          <p:cNvSpPr/>
          <p:nvPr/>
        </p:nvSpPr>
        <p:spPr>
          <a:xfrm>
            <a:off x="612648" y="3090672"/>
            <a:ext cx="4343400" cy="301752"/>
          </a:xfrm>
          <a:prstGeom prst="roundRect">
            <a:avLst>
              <a:gd name="adj" fmla="val 24242"/>
            </a:avLst>
          </a:prstGeom>
          <a:solidFill>
            <a:srgbClr val="14B8A6">
              <a:alpha val="85000"/>
            </a:srgbClr>
          </a:solidFill>
          <a:ln w="12700">
            <a:solidFill>
              <a:srgbClr val="14B8A6">
                <a:alpha val="70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8" name="Text 6"/>
          <p:cNvSpPr/>
          <p:nvPr/>
        </p:nvSpPr>
        <p:spPr>
          <a:xfrm>
            <a:off x="713232" y="3159252"/>
            <a:ext cx="4142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>
                <a:solidFill>
                  <a:srgbClr val="DCE2EC"/>
                </a:solidFill>
              </a:rPr>
              <a:t>Main file: health_monitor_FINAL.py</a:t>
            </a:r>
          </a:p>
          <a:p>
            <a:r>
              <a:rPr sz="1000">
                <a:solidFill>
                  <a:srgbClr val="DCE2EC"/>
                </a:solidFill>
              </a:rPr>
              <a:t>Requirements: requirements_health_monitor_FINALtxt</a:t>
            </a:r>
          </a:p>
        </p:txBody>
      </p:sp>
      <p:sp>
        <p:nvSpPr>
          <p:cNvPr id="9" name="Shape 7"/>
          <p:cNvSpPr/>
          <p:nvPr/>
        </p:nvSpPr>
        <p:spPr>
          <a:xfrm>
            <a:off x="7315200" y="914400"/>
            <a:ext cx="3840480" cy="4389120"/>
          </a:xfrm>
          <a:prstGeom prst="roundRect">
            <a:avLst>
              <a:gd name="adj" fmla="val 2857"/>
            </a:avLst>
          </a:prstGeom>
          <a:solidFill>
            <a:srgbClr val="0F1B2E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10" name="Shape 8"/>
          <p:cNvSpPr/>
          <p:nvPr/>
        </p:nvSpPr>
        <p:spPr>
          <a:xfrm>
            <a:off x="7726680" y="1325880"/>
            <a:ext cx="2971800" cy="297180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14B8A6"/>
            </a:solidFill>
            <a:prstDash val="solid"/>
          </a:ln>
        </p:spPr>
        <p:txBody>
          <a:bodyPr wrap="square"/>
          <a:p/>
        </p:txBody>
      </p:sp>
      <p:sp>
        <p:nvSpPr>
          <p:cNvPr id="11" name="Shape 9"/>
          <p:cNvSpPr/>
          <p:nvPr/>
        </p:nvSpPr>
        <p:spPr>
          <a:xfrm>
            <a:off x="7882128" y="1481328"/>
            <a:ext cx="2651760" cy="2651760"/>
          </a:xfrm>
          <a:prstGeom prst="arc">
            <a:avLst/>
          </a:prstGeom>
          <a:noFill/>
          <a:ln w="12700">
            <a:solidFill>
              <a:srgbClr val="22D3EE"/>
            </a:solidFill>
            <a:prstDash val="solid"/>
          </a:ln>
        </p:spPr>
        <p:txBody>
          <a:bodyPr wrap="square"/>
          <a:p/>
        </p:txBody>
      </p:sp>
      <p:sp>
        <p:nvSpPr>
          <p:cNvPr id="12" name="Text 10"/>
          <p:cNvSpPr/>
          <p:nvPr/>
        </p:nvSpPr>
        <p:spPr>
          <a:xfrm>
            <a:off x="8641080" y="202996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EF4444"/>
                </a:solidFill>
              </a:rPr>
              <a:t>❤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8019288" y="43159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Risk: Medium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18120" y="4709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Patient monitoring assistant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" y="5120640"/>
            <a:ext cx="2194560" cy="969264"/>
          </a:xfrm>
          <a:prstGeom prst="roundRect">
            <a:avLst>
              <a:gd name="adj" fmla="val 113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16" name="Text 14"/>
          <p:cNvSpPr/>
          <p:nvPr/>
        </p:nvSpPr>
        <p:spPr>
          <a:xfrm>
            <a:off x="777240" y="528523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Model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7240" y="555955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</a:rPr>
              <a:t>LightGBM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017520" y="5120640"/>
            <a:ext cx="2194560" cy="969264"/>
          </a:xfrm>
          <a:prstGeom prst="roundRect">
            <a:avLst>
              <a:gd name="adj" fmla="val 113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19" name="Text 17"/>
          <p:cNvSpPr/>
          <p:nvPr/>
        </p:nvSpPr>
        <p:spPr>
          <a:xfrm>
            <a:off x="3182112" y="528523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GenAI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182112" y="555955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</a:rPr>
              <a:t>Gemini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22392" y="5120640"/>
            <a:ext cx="2194560" cy="969264"/>
          </a:xfrm>
          <a:prstGeom prst="roundRect">
            <a:avLst>
              <a:gd name="adj" fmla="val 113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22" name="Text 20"/>
          <p:cNvSpPr/>
          <p:nvPr/>
        </p:nvSpPr>
        <p:spPr>
          <a:xfrm>
            <a:off x="5586984" y="528523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Interface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586984" y="555955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</a:rPr>
              <a:t>Streamlit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02920" y="65288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 Health Monitoring Guide | LightGBM + GenAI + RAG + Voice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 wrap="square"/>
          <a:p/>
        </p:txBody>
      </p:sp>
      <p:sp>
        <p:nvSpPr>
          <p:cNvPr id="3" name="Shape 1"/>
          <p:cNvSpPr/>
          <p:nvPr/>
        </p:nvSpPr>
        <p:spPr>
          <a:xfrm>
            <a:off x="9875520" y="-640080"/>
            <a:ext cx="3291840" cy="3291840"/>
          </a:xfrm>
          <a:prstGeom prst="arc">
            <a:avLst/>
          </a:prstGeom>
          <a:noFill/>
          <a:ln w="12700">
            <a:solidFill>
              <a:srgbClr val="1E40AF">
                <a:alpha val="55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4" name="Shape 2"/>
          <p:cNvSpPr/>
          <p:nvPr/>
        </p:nvSpPr>
        <p:spPr>
          <a:xfrm>
            <a:off x="-1005840" y="4937760"/>
            <a:ext cx="2926080" cy="2926080"/>
          </a:xfrm>
          <a:prstGeom prst="arc">
            <a:avLst/>
          </a:prstGeom>
          <a:noFill/>
          <a:ln w="12700">
            <a:solidFill>
              <a:srgbClr val="0E7490">
                <a:alpha val="45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5" name="Text 3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User Need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Daily health data is available, but interpretation is difficult.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61288"/>
            <a:ext cx="11201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8" name="Shape 6"/>
          <p:cNvSpPr/>
          <p:nvPr/>
        </p:nvSpPr>
        <p:spPr>
          <a:xfrm>
            <a:off x="658368" y="1508760"/>
            <a:ext cx="3657600" cy="4251960"/>
          </a:xfrm>
          <a:prstGeom prst="roundRect">
            <a:avLst>
              <a:gd name="adj" fmla="val 3000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9" name="Shape 7"/>
          <p:cNvSpPr/>
          <p:nvPr/>
        </p:nvSpPr>
        <p:spPr>
          <a:xfrm>
            <a:off x="960120" y="1783080"/>
            <a:ext cx="512064" cy="512064"/>
          </a:xfrm>
          <a:prstGeom prst="ellipse">
            <a:avLst/>
          </a:prstGeom>
          <a:solidFill>
            <a:srgbClr val="14B8A6">
              <a:alpha val="95000"/>
            </a:srgbClr>
          </a:solidFill>
          <a:ln w="12700">
            <a:solidFill>
              <a:srgbClr val="14B8A6">
                <a:alpha val="80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10" name="Text 8"/>
          <p:cNvSpPr/>
          <p:nvPr/>
        </p:nvSpPr>
        <p:spPr>
          <a:xfrm>
            <a:off x="987552" y="18562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👵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0020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Who is affected?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" y="2606040"/>
            <a:ext cx="29260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Elderly patients with chronic conditions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Caregivers who need simple guidance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Families monitoring readings every day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26280" y="1508760"/>
            <a:ext cx="3291840" cy="4251960"/>
          </a:xfrm>
          <a:prstGeom prst="roundRect">
            <a:avLst>
              <a:gd name="adj" fmla="val 3333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14" name="Shape 12"/>
          <p:cNvSpPr/>
          <p:nvPr/>
        </p:nvSpPr>
        <p:spPr>
          <a:xfrm>
            <a:off x="4800600" y="1783080"/>
            <a:ext cx="512064" cy="512064"/>
          </a:xfrm>
          <a:prstGeom prst="ellipse">
            <a:avLst/>
          </a:prstGeom>
          <a:solidFill>
            <a:srgbClr val="F59E0B">
              <a:alpha val="95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15" name="Text 13"/>
          <p:cNvSpPr/>
          <p:nvPr/>
        </p:nvSpPr>
        <p:spPr>
          <a:xfrm>
            <a:off x="4828032" y="18562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📉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4068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What goes wrong?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800600" y="2606040"/>
            <a:ext cx="260604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One day’s reading can mislead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Trends are hard to interpret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Generic alerts do not explain why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028432" y="1508760"/>
            <a:ext cx="3474720" cy="4251960"/>
          </a:xfrm>
          <a:prstGeom prst="roundRect">
            <a:avLst>
              <a:gd name="adj" fmla="val 3158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19" name="Shape 17"/>
          <p:cNvSpPr/>
          <p:nvPr/>
        </p:nvSpPr>
        <p:spPr>
          <a:xfrm>
            <a:off x="8321040" y="1783080"/>
            <a:ext cx="512064" cy="512064"/>
          </a:xfrm>
          <a:prstGeom prst="ellipse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20" name="Text 18"/>
          <p:cNvSpPr/>
          <p:nvPr/>
        </p:nvSpPr>
        <p:spPr>
          <a:xfrm>
            <a:off x="8348472" y="18562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💡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961120" y="1810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Our opportunity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321040" y="2606040"/>
            <a:ext cx="274320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Use 3–5 day history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Predict risk level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Explain in patient-friendly language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 Health Monitoring Guide | LightGBM + GenAI + RAG + Voice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 wrap="square"/>
          <a:p/>
        </p:txBody>
      </p:sp>
      <p:sp>
        <p:nvSpPr>
          <p:cNvPr id="3" name="Shape 1"/>
          <p:cNvSpPr/>
          <p:nvPr/>
        </p:nvSpPr>
        <p:spPr>
          <a:xfrm>
            <a:off x="9875520" y="-640080"/>
            <a:ext cx="3291840" cy="3291840"/>
          </a:xfrm>
          <a:prstGeom prst="arc">
            <a:avLst/>
          </a:prstGeom>
          <a:noFill/>
          <a:ln w="12700">
            <a:solidFill>
              <a:srgbClr val="1E40AF">
                <a:alpha val="55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4" name="Shape 2"/>
          <p:cNvSpPr/>
          <p:nvPr/>
        </p:nvSpPr>
        <p:spPr>
          <a:xfrm>
            <a:off x="-1005840" y="4937760"/>
            <a:ext cx="2926080" cy="2926080"/>
          </a:xfrm>
          <a:prstGeom prst="arc">
            <a:avLst/>
          </a:prstGeom>
          <a:noFill/>
          <a:ln w="12700">
            <a:solidFill>
              <a:srgbClr val="0E7490">
                <a:alpha val="45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5" name="Text 3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 hybrid ML + GenAI health monitoring assistant.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61288"/>
            <a:ext cx="11201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8" name="Shape 6"/>
          <p:cNvSpPr/>
          <p:nvPr/>
        </p:nvSpPr>
        <p:spPr>
          <a:xfrm>
            <a:off x="2743200" y="2606040"/>
            <a:ext cx="59436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 wrap="square"/>
          <a:p/>
        </p:txBody>
      </p:sp>
      <p:sp>
        <p:nvSpPr>
          <p:cNvPr id="9" name="Shape 7"/>
          <p:cNvSpPr/>
          <p:nvPr/>
        </p:nvSpPr>
        <p:spPr>
          <a:xfrm>
            <a:off x="685800" y="2103120"/>
            <a:ext cx="2148840" cy="1170432"/>
          </a:xfrm>
          <a:prstGeom prst="roundRect">
            <a:avLst>
              <a:gd name="adj" fmla="val 9375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10" name="Text 8"/>
          <p:cNvSpPr/>
          <p:nvPr/>
        </p:nvSpPr>
        <p:spPr>
          <a:xfrm>
            <a:off x="850392" y="226771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User enters readings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8680" y="26700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glucose, BP, pulse, cholesterol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532120" y="2606040"/>
            <a:ext cx="59436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 wrap="square"/>
          <a:p/>
        </p:txBody>
      </p:sp>
      <p:sp>
        <p:nvSpPr>
          <p:cNvPr id="13" name="Shape 11"/>
          <p:cNvSpPr/>
          <p:nvPr/>
        </p:nvSpPr>
        <p:spPr>
          <a:xfrm>
            <a:off x="3474720" y="2103120"/>
            <a:ext cx="2148840" cy="1170432"/>
          </a:xfrm>
          <a:prstGeom prst="roundRect">
            <a:avLst>
              <a:gd name="adj" fmla="val 9375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14" name="Text 12"/>
          <p:cNvSpPr/>
          <p:nvPr/>
        </p:nvSpPr>
        <p:spPr>
          <a:xfrm>
            <a:off x="3639312" y="226771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History features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57600" y="26700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3-day and 5-day averages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321040" y="2606040"/>
            <a:ext cx="59436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 wrap="square"/>
          <a:p/>
        </p:txBody>
      </p:sp>
      <p:sp>
        <p:nvSpPr>
          <p:cNvPr id="17" name="Shape 15"/>
          <p:cNvSpPr/>
          <p:nvPr/>
        </p:nvSpPr>
        <p:spPr>
          <a:xfrm>
            <a:off x="6263640" y="2103120"/>
            <a:ext cx="2148840" cy="1170432"/>
          </a:xfrm>
          <a:prstGeom prst="roundRect">
            <a:avLst>
              <a:gd name="adj" fmla="val 9375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18" name="Text 16"/>
          <p:cNvSpPr/>
          <p:nvPr/>
        </p:nvSpPr>
        <p:spPr>
          <a:xfrm>
            <a:off x="6428232" y="226771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LightGBM model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46520" y="26700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predicts risk label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52560" y="2103120"/>
            <a:ext cx="2148840" cy="1170432"/>
          </a:xfrm>
          <a:prstGeom prst="roundRect">
            <a:avLst>
              <a:gd name="adj" fmla="val 9375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21" name="Text 19"/>
          <p:cNvSpPr/>
          <p:nvPr/>
        </p:nvSpPr>
        <p:spPr>
          <a:xfrm>
            <a:off x="9217152" y="226771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GenAI layer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235440" y="26700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explains + answers + voice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43000" y="3977640"/>
            <a:ext cx="982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Final output: Risk Label + Explanation + Weekly Trend + Voice Summary + Q&amp;A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251960" y="4800600"/>
            <a:ext cx="3657600" cy="301752"/>
          </a:xfrm>
          <a:prstGeom prst="roundRect">
            <a:avLst>
              <a:gd name="adj" fmla="val 24242"/>
            </a:avLst>
          </a:prstGeom>
          <a:solidFill>
            <a:srgbClr val="A78BFA">
              <a:alpha val="85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25" name="Text 23"/>
          <p:cNvSpPr/>
          <p:nvPr/>
        </p:nvSpPr>
        <p:spPr>
          <a:xfrm>
            <a:off x="4352544" y="4869180"/>
            <a:ext cx="3456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Designed for demo, presentation and academic evaluation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65288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 Health Monitoring Guide | LightGBM + GenAI + RAG + Voice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 wrap="square"/>
          <a:p/>
        </p:txBody>
      </p:sp>
      <p:sp>
        <p:nvSpPr>
          <p:cNvPr id="3" name="Shape 1"/>
          <p:cNvSpPr/>
          <p:nvPr/>
        </p:nvSpPr>
        <p:spPr>
          <a:xfrm>
            <a:off x="9875520" y="-640080"/>
            <a:ext cx="3291840" cy="3291840"/>
          </a:xfrm>
          <a:prstGeom prst="arc">
            <a:avLst/>
          </a:prstGeom>
          <a:noFill/>
          <a:ln w="12700">
            <a:solidFill>
              <a:srgbClr val="1E40AF">
                <a:alpha val="55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4" name="Shape 2"/>
          <p:cNvSpPr/>
          <p:nvPr/>
        </p:nvSpPr>
        <p:spPr>
          <a:xfrm>
            <a:off x="-1005840" y="4937760"/>
            <a:ext cx="2926080" cy="2926080"/>
          </a:xfrm>
          <a:prstGeom prst="arc">
            <a:avLst/>
          </a:prstGeom>
          <a:noFill/>
          <a:ln w="12700">
            <a:solidFill>
              <a:srgbClr val="0E7490">
                <a:alpha val="45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5" name="Text 3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&amp; Feature Engineering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The model uses both current readings and recent history-aware features.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61288"/>
            <a:ext cx="11201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8" name="Shape 6"/>
          <p:cNvSpPr/>
          <p:nvPr/>
        </p:nvSpPr>
        <p:spPr>
          <a:xfrm>
            <a:off x="594360" y="1463040"/>
            <a:ext cx="3566160" cy="4526280"/>
          </a:xfrm>
          <a:prstGeom prst="roundRect">
            <a:avLst>
              <a:gd name="adj" fmla="val 3077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9" name="Text 7"/>
          <p:cNvSpPr/>
          <p:nvPr/>
        </p:nvSpPr>
        <p:spPr>
          <a:xfrm>
            <a:off x="868680" y="178308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Input columns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288036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Patient ID, Date, Day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Age, Gender, BMI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Blood Glucose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Systolic / Diastolic BP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Pulse, Cholesterol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Diabetes, Hypertension, Heart Disease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1463040"/>
            <a:ext cx="3566160" cy="4526280"/>
          </a:xfrm>
          <a:prstGeom prst="roundRect">
            <a:avLst>
              <a:gd name="adj" fmla="val 3077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12" name="Text 10"/>
          <p:cNvSpPr/>
          <p:nvPr/>
        </p:nvSpPr>
        <p:spPr>
          <a:xfrm>
            <a:off x="4617720" y="178308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History features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2148840"/>
            <a:ext cx="283464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3-day previous average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5-day previous average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Difference from yesterday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Difference from 3-day average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High-risk days in last 5 days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2440" y="1463040"/>
            <a:ext cx="3520440" cy="4526280"/>
          </a:xfrm>
          <a:prstGeom prst="roundRect">
            <a:avLst>
              <a:gd name="adj" fmla="val 3117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15" name="Text 13"/>
          <p:cNvSpPr/>
          <p:nvPr/>
        </p:nvSpPr>
        <p:spPr>
          <a:xfrm>
            <a:off x="8366760" y="178308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Guideline features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66760" y="2148840"/>
            <a:ext cx="283464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BP stage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Glucose band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Cholesterol band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Comorbidity count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Rule-based risk score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5288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 Health Monitoring Guide | LightGBM + GenAI + RAG + Voice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 wrap="square"/>
          <a:p/>
        </p:txBody>
      </p:sp>
      <p:sp>
        <p:nvSpPr>
          <p:cNvPr id="3" name="Shape 1"/>
          <p:cNvSpPr/>
          <p:nvPr/>
        </p:nvSpPr>
        <p:spPr>
          <a:xfrm>
            <a:off x="9875520" y="-640080"/>
            <a:ext cx="3291840" cy="3291840"/>
          </a:xfrm>
          <a:prstGeom prst="arc">
            <a:avLst/>
          </a:prstGeom>
          <a:noFill/>
          <a:ln w="12700">
            <a:solidFill>
              <a:srgbClr val="1E40AF">
                <a:alpha val="55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4" name="Shape 2"/>
          <p:cNvSpPr/>
          <p:nvPr/>
        </p:nvSpPr>
        <p:spPr>
          <a:xfrm>
            <a:off x="-1005840" y="4937760"/>
            <a:ext cx="2926080" cy="2926080"/>
          </a:xfrm>
          <a:prstGeom prst="arc">
            <a:avLst/>
          </a:prstGeom>
          <a:noFill/>
          <a:ln w="12700">
            <a:solidFill>
              <a:srgbClr val="0E7490">
                <a:alpha val="45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5" name="Text 3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Development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LightGBM selected as final model for structured health-risk prediction.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61288"/>
            <a:ext cx="11201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8" name="Shape 6"/>
          <p:cNvSpPr/>
          <p:nvPr/>
        </p:nvSpPr>
        <p:spPr>
          <a:xfrm>
            <a:off x="640080" y="1463040"/>
            <a:ext cx="2331720" cy="969264"/>
          </a:xfrm>
          <a:prstGeom prst="roundRect">
            <a:avLst>
              <a:gd name="adj" fmla="val 113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9" name="Text 7"/>
          <p:cNvSpPr/>
          <p:nvPr/>
        </p:nvSpPr>
        <p:spPr>
          <a:xfrm>
            <a:off x="804672" y="1627632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Training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" y="1901952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</a:rPr>
              <a:t>70%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154680" y="1463040"/>
            <a:ext cx="2331720" cy="969264"/>
          </a:xfrm>
          <a:prstGeom prst="roundRect">
            <a:avLst>
              <a:gd name="adj" fmla="val 113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12" name="Text 10"/>
          <p:cNvSpPr/>
          <p:nvPr/>
        </p:nvSpPr>
        <p:spPr>
          <a:xfrm>
            <a:off x="3319272" y="1627632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Validation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19272" y="1901952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</a:rPr>
              <a:t>20%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669280" y="1463040"/>
            <a:ext cx="2331720" cy="969264"/>
          </a:xfrm>
          <a:prstGeom prst="roundRect">
            <a:avLst>
              <a:gd name="adj" fmla="val 113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15" name="Text 13"/>
          <p:cNvSpPr/>
          <p:nvPr/>
        </p:nvSpPr>
        <p:spPr>
          <a:xfrm>
            <a:off x="5833872" y="1627632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Testing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33872" y="1901952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10%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366760" y="1463040"/>
            <a:ext cx="2834640" cy="969264"/>
          </a:xfrm>
          <a:prstGeom prst="roundRect">
            <a:avLst>
              <a:gd name="adj" fmla="val 113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18" name="Text 16"/>
          <p:cNvSpPr/>
          <p:nvPr/>
        </p:nvSpPr>
        <p:spPr>
          <a:xfrm>
            <a:off x="8531352" y="16276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Final Model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531352" y="1901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</a:rPr>
              <a:t>LightGBM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85800" y="2971800"/>
            <a:ext cx="5074920" cy="2148840"/>
          </a:xfrm>
          <a:prstGeom prst="roundRect">
            <a:avLst>
              <a:gd name="adj" fmla="val 5106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21" name="Text 19"/>
          <p:cNvSpPr/>
          <p:nvPr/>
        </p:nvSpPr>
        <p:spPr>
          <a:xfrm>
            <a:off x="960120" y="324612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Why LightGBM?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611880"/>
            <a:ext cx="425196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Strong for tabular datasets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Fast training and prediction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Handles non-linear health patterns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Works well with engineered trend features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080760" y="2971800"/>
            <a:ext cx="5074920" cy="2148840"/>
          </a:xfrm>
          <a:prstGeom prst="roundRect">
            <a:avLst>
              <a:gd name="adj" fmla="val 5106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24" name="Text 22"/>
          <p:cNvSpPr/>
          <p:nvPr/>
        </p:nvSpPr>
        <p:spPr>
          <a:xfrm>
            <a:off x="6355080" y="324612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Model alternatives tested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3611880"/>
            <a:ext cx="425196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Random Forest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XGBoost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LightGBM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Other PyCaret baseline models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" y="65288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 Health Monitoring Guide | LightGBM + GenAI + RAG + Voice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 wrap="square"/>
          <a:p/>
        </p:txBody>
      </p:sp>
      <p:sp>
        <p:nvSpPr>
          <p:cNvPr id="3" name="Shape 1"/>
          <p:cNvSpPr/>
          <p:nvPr/>
        </p:nvSpPr>
        <p:spPr>
          <a:xfrm>
            <a:off x="9875520" y="-640080"/>
            <a:ext cx="3291840" cy="3291840"/>
          </a:xfrm>
          <a:prstGeom prst="arc">
            <a:avLst/>
          </a:prstGeom>
          <a:noFill/>
          <a:ln w="12700">
            <a:solidFill>
              <a:srgbClr val="1E40AF">
                <a:alpha val="55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4" name="Shape 2"/>
          <p:cNvSpPr/>
          <p:nvPr/>
        </p:nvSpPr>
        <p:spPr>
          <a:xfrm>
            <a:off x="-1005840" y="4937760"/>
            <a:ext cx="2926080" cy="2926080"/>
          </a:xfrm>
          <a:prstGeom prst="arc">
            <a:avLst/>
          </a:prstGeom>
          <a:noFill/>
          <a:ln w="12700">
            <a:solidFill>
              <a:srgbClr val="0E7490">
                <a:alpha val="45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5" name="Text 3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Performance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LightGBM performed strongly across training, validation and testing.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61288"/>
            <a:ext cx="11201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graphicFrame>
        <p:nvGraphicFramePr>
          <p:cNvPr id="8" name="Chart 0" descr=""/>
          <p:cNvGraphicFramePr/>
          <p:nvPr/>
        </p:nvGraphicFramePr>
        <p:xfrm>
          <a:off x="731520" y="1417320"/>
          <a:ext cx="61264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315200" y="1417320"/>
            <a:ext cx="4069080" cy="4023360"/>
          </a:xfrm>
          <a:prstGeom prst="roundRect">
            <a:avLst>
              <a:gd name="adj" fmla="val 2727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10" name="Text 7"/>
          <p:cNvSpPr/>
          <p:nvPr/>
        </p:nvSpPr>
        <p:spPr>
          <a:xfrm>
            <a:off x="7635240" y="171907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Key results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35240" y="2148840"/>
            <a:ext cx="315468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CBD5E1"/>
                </a:solidFill>
              </a:rPr>
              <a:t>Training accuracy: 100%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CBD5E1"/>
                </a:solidFill>
              </a:rPr>
              <a:t>Validation accuracy: 98.78%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CBD5E1"/>
                </a:solidFill>
              </a:rPr>
              <a:t>Testing accuracy: 99.02%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CBD5E1"/>
                </a:solidFill>
              </a:rPr>
              <a:t>Testing weighted F1: 99.01%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7635240" y="388620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Important limitation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35240" y="4251960"/>
            <a:ext cx="32461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CBD5E1"/>
                </a:solidFill>
              </a:rPr>
              <a:t>Rare critical-risk cases were limited in the split, so rare-class evaluation should be improved in future work.</a:t>
            </a:r>
            <a:endParaRPr lang="en-US" sz="1230" dirty="0"/>
          </a:p>
        </p:txBody>
      </p:sp>
      <p:sp>
        <p:nvSpPr>
          <p:cNvPr id="14" name="Text 11"/>
          <p:cNvSpPr/>
          <p:nvPr/>
        </p:nvSpPr>
        <p:spPr>
          <a:xfrm>
            <a:off x="502920" y="65288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 Health Monitoring Guide | LightGBM + GenAI + RAG + Voice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 wrap="square"/>
          <a:p/>
        </p:txBody>
      </p:sp>
      <p:sp>
        <p:nvSpPr>
          <p:cNvPr id="3" name="Shape 1"/>
          <p:cNvSpPr/>
          <p:nvPr/>
        </p:nvSpPr>
        <p:spPr>
          <a:xfrm>
            <a:off x="9875520" y="-640080"/>
            <a:ext cx="3291840" cy="3291840"/>
          </a:xfrm>
          <a:prstGeom prst="arc">
            <a:avLst/>
          </a:prstGeom>
          <a:noFill/>
          <a:ln w="12700">
            <a:solidFill>
              <a:srgbClr val="1E40AF">
                <a:alpha val="55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4" name="Shape 2"/>
          <p:cNvSpPr/>
          <p:nvPr/>
        </p:nvSpPr>
        <p:spPr>
          <a:xfrm>
            <a:off x="-1005840" y="4937760"/>
            <a:ext cx="2926080" cy="2926080"/>
          </a:xfrm>
          <a:prstGeom prst="arc">
            <a:avLst/>
          </a:prstGeom>
          <a:noFill/>
          <a:ln w="12700">
            <a:solidFill>
              <a:srgbClr val="0E7490">
                <a:alpha val="45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5" name="Text 3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GenAI Integration Layers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2EC"/>
                </a:solidFill>
              </a:rPr>
              <a:t>The project goes beyond prediction by making outputs explainable and interactive.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61288"/>
            <a:ext cx="11201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8" name="Shape 6"/>
          <p:cNvSpPr/>
          <p:nvPr/>
        </p:nvSpPr>
        <p:spPr>
          <a:xfrm>
            <a:off x="777240" y="1481328"/>
            <a:ext cx="3063240" cy="1325880"/>
          </a:xfrm>
          <a:prstGeom prst="roundRect">
            <a:avLst>
              <a:gd name="adj" fmla="val 8276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9" name="Shape 7"/>
          <p:cNvSpPr/>
          <p:nvPr/>
        </p:nvSpPr>
        <p:spPr>
          <a:xfrm>
            <a:off x="941832" y="1792224"/>
            <a:ext cx="512064" cy="512064"/>
          </a:xfrm>
          <a:prstGeom prst="ellipse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10" name="Text 8"/>
          <p:cNvSpPr/>
          <p:nvPr/>
        </p:nvSpPr>
        <p:spPr>
          <a:xfrm>
            <a:off x="969264" y="18653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🔎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00200" y="1709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00" b="1">
                <a:solidFill>
                  <a:srgbClr val="FFFFFF"/>
                </a:solidFill>
              </a:rPr>
              <a:t>RAG Layer</a:t>
            </a:r>
          </a:p>
          <a:p>
            <a:r>
              <a:rPr sz="1500" b="1">
                <a:solidFill>
                  <a:srgbClr val="FFFFFF"/>
                </a:solidFill>
              </a:rPr>
              <a:t>Document / Image</a:t>
            </a:r>
          </a:p>
          <a:p>
            <a:r>
              <a:rPr sz="1500" b="1">
                <a:solidFill>
                  <a:srgbClr val="FFFFFF"/>
                </a:solidFill>
              </a:rPr>
              <a:t>Summarization</a:t>
            </a:r>
          </a:p>
        </p:txBody>
      </p:sp>
      <p:sp>
        <p:nvSpPr>
          <p:cNvPr id="12" name="Text 10"/>
          <p:cNvSpPr/>
          <p:nvPr/>
        </p:nvSpPr>
        <p:spPr>
          <a:xfrm>
            <a:off x="1600200" y="207568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100" b="0">
                <a:solidFill>
                  <a:srgbClr val="E0E6F0"/>
                </a:solidFill>
              </a:rPr>
              <a:t>Retrieves guidance snippets and summarizes uploaded health reports, scans or PDFs in simple language.</a:t>
            </a:r>
          </a:p>
        </p:txBody>
      </p:sp>
      <p:sp>
        <p:nvSpPr>
          <p:cNvPr id="13" name="Shape 11"/>
          <p:cNvSpPr/>
          <p:nvPr/>
        </p:nvSpPr>
        <p:spPr>
          <a:xfrm>
            <a:off x="4480560" y="1481328"/>
            <a:ext cx="3063240" cy="1325880"/>
          </a:xfrm>
          <a:prstGeom prst="roundRect">
            <a:avLst>
              <a:gd name="adj" fmla="val 8276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14" name="Shape 12"/>
          <p:cNvSpPr/>
          <p:nvPr/>
        </p:nvSpPr>
        <p:spPr>
          <a:xfrm>
            <a:off x="4645152" y="1792224"/>
            <a:ext cx="512064" cy="512064"/>
          </a:xfrm>
          <a:prstGeom prst="ellipse">
            <a:avLst/>
          </a:prstGeom>
          <a:solidFill>
            <a:srgbClr val="22C55E">
              <a:alpha val="95000"/>
            </a:srgbClr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15" name="Text 13"/>
          <p:cNvSpPr/>
          <p:nvPr/>
        </p:nvSpPr>
        <p:spPr>
          <a:xfrm>
            <a:off x="4672584" y="18653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✨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03520" y="1709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Gemini Explanation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303520" y="207568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100">
                <a:solidFill>
                  <a:srgbClr val="E0E6F0"/>
                </a:solidFill>
              </a:rPr>
              <a:t>Turns prediction into simple patient-friendly language</a:t>
            </a:r>
          </a:p>
        </p:txBody>
      </p:sp>
      <p:sp>
        <p:nvSpPr>
          <p:cNvPr id="18" name="Shape 16"/>
          <p:cNvSpPr/>
          <p:nvPr/>
        </p:nvSpPr>
        <p:spPr>
          <a:xfrm>
            <a:off x="8183880" y="1481328"/>
            <a:ext cx="3063240" cy="1325880"/>
          </a:xfrm>
          <a:prstGeom prst="roundRect">
            <a:avLst>
              <a:gd name="adj" fmla="val 8276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19" name="Shape 17"/>
          <p:cNvSpPr/>
          <p:nvPr/>
        </p:nvSpPr>
        <p:spPr>
          <a:xfrm>
            <a:off x="8348472" y="1792224"/>
            <a:ext cx="512064" cy="512064"/>
          </a:xfrm>
          <a:prstGeom prst="ellipse">
            <a:avLst/>
          </a:prstGeom>
          <a:solidFill>
            <a:srgbClr val="A78BFA">
              <a:alpha val="95000"/>
            </a:srgbClr>
          </a:solidFill>
          <a:ln w="12700">
            <a:solidFill>
              <a:srgbClr val="A78BFA">
                <a:alpha val="80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20" name="Text 18"/>
          <p:cNvSpPr/>
          <p:nvPr/>
        </p:nvSpPr>
        <p:spPr>
          <a:xfrm>
            <a:off x="8375904" y="18653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💬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006840" y="1709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Q&amp;A Assistant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006840" y="207568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100">
                <a:solidFill>
                  <a:srgbClr val="E0E6F0"/>
                </a:solidFill>
              </a:rPr>
              <a:t>Allows follow-up questions about risk, trends, diet and uploaded report summary</a:t>
            </a:r>
          </a:p>
        </p:txBody>
      </p:sp>
      <p:sp>
        <p:nvSpPr>
          <p:cNvPr id="23" name="Shape 21"/>
          <p:cNvSpPr/>
          <p:nvPr/>
        </p:nvSpPr>
        <p:spPr>
          <a:xfrm>
            <a:off x="777240" y="3703320"/>
            <a:ext cx="3063240" cy="1325880"/>
          </a:xfrm>
          <a:prstGeom prst="roundRect">
            <a:avLst>
              <a:gd name="adj" fmla="val 8276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24" name="Shape 22"/>
          <p:cNvSpPr/>
          <p:nvPr/>
        </p:nvSpPr>
        <p:spPr>
          <a:xfrm>
            <a:off x="941832" y="4014216"/>
            <a:ext cx="512064" cy="512064"/>
          </a:xfrm>
          <a:prstGeom prst="ellipse">
            <a:avLst/>
          </a:prstGeom>
          <a:solidFill>
            <a:srgbClr val="F59E0B">
              <a:alpha val="95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25" name="Text 23"/>
          <p:cNvSpPr/>
          <p:nvPr/>
        </p:nvSpPr>
        <p:spPr>
          <a:xfrm>
            <a:off x="969264" y="40873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📅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600200" y="3931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Weekly Insight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600200" y="429768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100">
                <a:solidFill>
                  <a:srgbClr val="E0E6F0"/>
                </a:solidFill>
              </a:rPr>
              <a:t>Summarizes what improved or worsened over 7 days</a:t>
            </a:r>
          </a:p>
        </p:txBody>
      </p:sp>
      <p:sp>
        <p:nvSpPr>
          <p:cNvPr id="28" name="Shape 26"/>
          <p:cNvSpPr/>
          <p:nvPr/>
        </p:nvSpPr>
        <p:spPr>
          <a:xfrm>
            <a:off x="4480560" y="3703320"/>
            <a:ext cx="3063240" cy="1325880"/>
          </a:xfrm>
          <a:prstGeom prst="roundRect">
            <a:avLst>
              <a:gd name="adj" fmla="val 8276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29" name="Shape 27"/>
          <p:cNvSpPr/>
          <p:nvPr/>
        </p:nvSpPr>
        <p:spPr>
          <a:xfrm>
            <a:off x="4645152" y="4014216"/>
            <a:ext cx="512064" cy="512064"/>
          </a:xfrm>
          <a:prstGeom prst="ellipse">
            <a:avLst/>
          </a:prstGeom>
          <a:solidFill>
            <a:srgbClr val="14B8A6">
              <a:alpha val="95000"/>
            </a:srgbClr>
          </a:solidFill>
          <a:ln w="12700">
            <a:solidFill>
              <a:srgbClr val="14B8A6">
                <a:alpha val="80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30" name="Text 28"/>
          <p:cNvSpPr/>
          <p:nvPr/>
        </p:nvSpPr>
        <p:spPr>
          <a:xfrm>
            <a:off x="4672584" y="40873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🔊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303520" y="3931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Voice Summary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5303520" y="429768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100">
                <a:solidFill>
                  <a:srgbClr val="E0E6F0"/>
                </a:solidFill>
              </a:rPr>
              <a:t>Reads a short health summary for easier access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288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 Health Monitoring Guide | LightGBM + GenAI + RAG + Voice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 wrap="square"/>
          <a:p/>
        </p:txBody>
      </p:sp>
      <p:sp>
        <p:nvSpPr>
          <p:cNvPr id="3" name="Shape 1"/>
          <p:cNvSpPr/>
          <p:nvPr/>
        </p:nvSpPr>
        <p:spPr>
          <a:xfrm>
            <a:off x="9875520" y="-640080"/>
            <a:ext cx="3291840" cy="3291840"/>
          </a:xfrm>
          <a:prstGeom prst="arc">
            <a:avLst/>
          </a:prstGeom>
          <a:noFill/>
          <a:ln w="12700">
            <a:solidFill>
              <a:srgbClr val="1E40AF">
                <a:alpha val="55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4" name="Shape 2"/>
          <p:cNvSpPr/>
          <p:nvPr/>
        </p:nvSpPr>
        <p:spPr>
          <a:xfrm>
            <a:off x="-1005840" y="4937760"/>
            <a:ext cx="2926080" cy="2926080"/>
          </a:xfrm>
          <a:prstGeom prst="arc">
            <a:avLst/>
          </a:prstGeom>
          <a:noFill/>
          <a:ln w="12700">
            <a:solidFill>
              <a:srgbClr val="0E7490">
                <a:alpha val="45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5" name="Text 3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 simple Streamlit app connects data, model, RAG and GenAI outputs.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61288"/>
            <a:ext cx="11201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8" name="Shape 6"/>
          <p:cNvSpPr/>
          <p:nvPr/>
        </p:nvSpPr>
        <p:spPr>
          <a:xfrm>
            <a:off x="1965960" y="2240280"/>
            <a:ext cx="228600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  <p:txBody>
          <a:bodyPr wrap="square"/>
          <a:p/>
        </p:txBody>
      </p:sp>
      <p:sp>
        <p:nvSpPr>
          <p:cNvPr id="9" name="Shape 7"/>
          <p:cNvSpPr/>
          <p:nvPr/>
        </p:nvSpPr>
        <p:spPr>
          <a:xfrm>
            <a:off x="4251960" y="2240280"/>
            <a:ext cx="251460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  <p:txBody>
          <a:bodyPr wrap="square"/>
          <a:p/>
        </p:txBody>
      </p:sp>
      <p:sp>
        <p:nvSpPr>
          <p:cNvPr id="10" name="Shape 8"/>
          <p:cNvSpPr/>
          <p:nvPr/>
        </p:nvSpPr>
        <p:spPr>
          <a:xfrm>
            <a:off x="6766560" y="2240280"/>
            <a:ext cx="242316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  <p:txBody>
          <a:bodyPr wrap="square"/>
          <a:p/>
        </p:txBody>
      </p:sp>
      <p:sp>
        <p:nvSpPr>
          <p:cNvPr id="11" name="Shape 9"/>
          <p:cNvSpPr/>
          <p:nvPr/>
        </p:nvSpPr>
        <p:spPr>
          <a:xfrm>
            <a:off x="6766560" y="2240280"/>
            <a:ext cx="-365760" cy="269748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  <p:txBody>
          <a:bodyPr wrap="square"/>
          <a:p/>
        </p:txBody>
      </p:sp>
      <p:sp>
        <p:nvSpPr>
          <p:cNvPr id="12" name="Shape 10"/>
          <p:cNvSpPr/>
          <p:nvPr/>
        </p:nvSpPr>
        <p:spPr>
          <a:xfrm>
            <a:off x="9189720" y="2240280"/>
            <a:ext cx="-2788920" cy="269748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  <p:txBody>
          <a:bodyPr wrap="square"/>
          <a:p/>
        </p:txBody>
      </p:sp>
      <p:sp>
        <p:nvSpPr>
          <p:cNvPr id="13" name="Shape 11"/>
          <p:cNvSpPr/>
          <p:nvPr/>
        </p:nvSpPr>
        <p:spPr>
          <a:xfrm>
            <a:off x="731520" y="182880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102033"/>
          </a:solidFill>
          <a:ln w="12700">
            <a:solidFill>
              <a:srgbClr val="22D3EE"/>
            </a:solidFill>
            <a:prstDash val="solid"/>
          </a:ln>
        </p:spPr>
        <p:txBody>
          <a:bodyPr wrap="square"/>
          <a:p/>
        </p:txBody>
      </p:sp>
      <p:sp>
        <p:nvSpPr>
          <p:cNvPr id="14" name="Text 12"/>
          <p:cNvSpPr/>
          <p:nvPr/>
        </p:nvSpPr>
        <p:spPr>
          <a:xfrm>
            <a:off x="868680" y="19933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/>
              <a:t>Patient Dataset</a:t>
            </a:r>
          </a:p>
          <a:p>
            <a:r>
              <a:rPr/>
              <a:t>Uploaded Report / Image</a:t>
            </a:r>
          </a:p>
        </p:txBody>
      </p:sp>
      <p:sp>
        <p:nvSpPr>
          <p:cNvPr id="15" name="Shape 13"/>
          <p:cNvSpPr/>
          <p:nvPr/>
        </p:nvSpPr>
        <p:spPr>
          <a:xfrm>
            <a:off x="3017520" y="182880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102033"/>
          </a:solidFill>
          <a:ln w="12700">
            <a:solidFill>
              <a:srgbClr val="22C55E"/>
            </a:solidFill>
            <a:prstDash val="solid"/>
          </a:ln>
        </p:spPr>
        <p:txBody>
          <a:bodyPr wrap="square"/>
          <a:p/>
        </p:txBody>
      </p:sp>
      <p:sp>
        <p:nvSpPr>
          <p:cNvPr id="16" name="Text 14"/>
          <p:cNvSpPr/>
          <p:nvPr/>
        </p:nvSpPr>
        <p:spPr>
          <a:xfrm>
            <a:off x="3154680" y="19933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Preprocessing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+ Feature Engineering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532120" y="182880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102033"/>
          </a:solidFill>
          <a:ln w="12700">
            <a:solidFill>
              <a:srgbClr val="F59E0B"/>
            </a:solidFill>
            <a:prstDash val="solid"/>
          </a:ln>
        </p:spPr>
        <p:txBody>
          <a:bodyPr wrap="square"/>
          <a:p/>
        </p:txBody>
      </p:sp>
      <p:sp>
        <p:nvSpPr>
          <p:cNvPr id="18" name="Text 16"/>
          <p:cNvSpPr/>
          <p:nvPr/>
        </p:nvSpPr>
        <p:spPr>
          <a:xfrm>
            <a:off x="5669280" y="19933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LightGBM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Risk Prediction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955280" y="182880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102033"/>
          </a:solidFill>
          <a:ln w="12700">
            <a:solidFill>
              <a:srgbClr val="A78BFA"/>
            </a:solidFill>
            <a:prstDash val="solid"/>
          </a:ln>
        </p:spPr>
        <p:txBody>
          <a:bodyPr wrap="square"/>
          <a:p/>
        </p:txBody>
      </p:sp>
      <p:sp>
        <p:nvSpPr>
          <p:cNvPr id="20" name="Text 18"/>
          <p:cNvSpPr/>
          <p:nvPr/>
        </p:nvSpPr>
        <p:spPr>
          <a:xfrm>
            <a:off x="8092440" y="19933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RAG + Gemini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GenAI Outputs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166360" y="452628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102033"/>
          </a:solidFill>
          <a:ln w="12700">
            <a:solidFill>
              <a:srgbClr val="14B8A6"/>
            </a:solidFill>
            <a:prstDash val="solid"/>
          </a:ln>
        </p:spPr>
        <p:txBody>
          <a:bodyPr wrap="square"/>
          <a:p/>
        </p:txBody>
      </p:sp>
      <p:sp>
        <p:nvSpPr>
          <p:cNvPr id="22" name="Text 20"/>
          <p:cNvSpPr/>
          <p:nvPr/>
        </p:nvSpPr>
        <p:spPr>
          <a:xfrm>
            <a:off x="5303520" y="46908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Streamlit UI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Demo App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965960" y="5715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Main App File: health_monitor_FINAL.py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65288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 Health Monitoring Guide | LightGBM + GenAI + RAG + Voice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 wrap="square"/>
          <a:p/>
        </p:txBody>
      </p:sp>
      <p:sp>
        <p:nvSpPr>
          <p:cNvPr id="3" name="Shape 1"/>
          <p:cNvSpPr/>
          <p:nvPr/>
        </p:nvSpPr>
        <p:spPr>
          <a:xfrm>
            <a:off x="9875520" y="-640080"/>
            <a:ext cx="3291840" cy="3291840"/>
          </a:xfrm>
          <a:prstGeom prst="arc">
            <a:avLst/>
          </a:prstGeom>
          <a:noFill/>
          <a:ln w="12700">
            <a:solidFill>
              <a:srgbClr val="1E40AF">
                <a:alpha val="55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4" name="Shape 2"/>
          <p:cNvSpPr/>
          <p:nvPr/>
        </p:nvSpPr>
        <p:spPr>
          <a:xfrm>
            <a:off x="-1005840" y="4937760"/>
            <a:ext cx="2926080" cy="2926080"/>
          </a:xfrm>
          <a:prstGeom prst="arc">
            <a:avLst/>
          </a:prstGeom>
          <a:noFill/>
          <a:ln w="12700">
            <a:solidFill>
              <a:srgbClr val="0E7490">
                <a:alpha val="45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5" name="Text 3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Flow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2EC"/>
                </a:solidFill>
              </a:rPr>
              <a:t>What the evaluator will see while using the app.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61288"/>
            <a:ext cx="11201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8" name="Shape 6"/>
          <p:cNvSpPr/>
          <p:nvPr/>
        </p:nvSpPr>
        <p:spPr>
          <a:xfrm>
            <a:off x="685800" y="1572768"/>
            <a:ext cx="4983480" cy="1234440"/>
          </a:xfrm>
          <a:prstGeom prst="roundRect">
            <a:avLst>
              <a:gd name="adj" fmla="val 8889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9" name="Shape 7"/>
          <p:cNvSpPr/>
          <p:nvPr/>
        </p:nvSpPr>
        <p:spPr>
          <a:xfrm>
            <a:off x="914400" y="1892808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 wrap="square"/>
          <a:p/>
        </p:txBody>
      </p:sp>
      <p:sp>
        <p:nvSpPr>
          <p:cNvPr id="10" name="Text 8"/>
          <p:cNvSpPr/>
          <p:nvPr/>
        </p:nvSpPr>
        <p:spPr>
          <a:xfrm>
            <a:off x="914400" y="19842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45920" y="181965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b="1">
                <a:solidFill>
                  <a:srgbClr val="FFFFFF"/>
                </a:solidFill>
              </a:rPr>
              <a:t>Select Patient ID</a:t>
            </a:r>
          </a:p>
          <a:p>
            <a:r>
              <a:rPr sz="1600" b="1">
                <a:solidFill>
                  <a:srgbClr val="FFFFFF"/>
                </a:solidFill>
              </a:rPr>
              <a:t>Upload health report / image</a:t>
            </a:r>
          </a:p>
        </p:txBody>
      </p:sp>
      <p:sp>
        <p:nvSpPr>
          <p:cNvPr id="12" name="Text 10"/>
          <p:cNvSpPr/>
          <p:nvPr/>
        </p:nvSpPr>
        <p:spPr>
          <a:xfrm>
            <a:off x="1645920" y="21945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200">
                <a:solidFill>
                  <a:srgbClr val="E0E6F0"/>
                </a:solidFill>
              </a:rPr>
              <a:t>The app updates the patient’s last 5 days of readings and can summarize the uploaded document.</a:t>
            </a:r>
          </a:p>
        </p:txBody>
      </p:sp>
      <p:sp>
        <p:nvSpPr>
          <p:cNvPr id="13" name="Shape 11"/>
          <p:cNvSpPr/>
          <p:nvPr/>
        </p:nvSpPr>
        <p:spPr>
          <a:xfrm>
            <a:off x="6309360" y="1572768"/>
            <a:ext cx="4983480" cy="1234440"/>
          </a:xfrm>
          <a:prstGeom prst="roundRect">
            <a:avLst>
              <a:gd name="adj" fmla="val 8889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14" name="Shape 12"/>
          <p:cNvSpPr/>
          <p:nvPr/>
        </p:nvSpPr>
        <p:spPr>
          <a:xfrm>
            <a:off x="6537960" y="1892808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 wrap="square"/>
          <a:p/>
        </p:txBody>
      </p:sp>
      <p:sp>
        <p:nvSpPr>
          <p:cNvPr id="15" name="Text 13"/>
          <p:cNvSpPr/>
          <p:nvPr/>
        </p:nvSpPr>
        <p:spPr>
          <a:xfrm>
            <a:off x="6537960" y="19842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69480" y="181965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Enter Today’s Readings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69480" y="21945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0E6F0"/>
                </a:solidFill>
              </a:rPr>
              <a:t>User enters glucose, BP, pulse, cholesterol and health conditions.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85800" y="3886200"/>
            <a:ext cx="4983480" cy="1234440"/>
          </a:xfrm>
          <a:prstGeom prst="roundRect">
            <a:avLst>
              <a:gd name="adj" fmla="val 8889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19" name="Shape 17"/>
          <p:cNvSpPr/>
          <p:nvPr/>
        </p:nvSpPr>
        <p:spPr>
          <a:xfrm>
            <a:off x="914400" y="420624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 wrap="square"/>
          <a:p/>
        </p:txBody>
      </p:sp>
      <p:sp>
        <p:nvSpPr>
          <p:cNvPr id="20" name="Text 18"/>
          <p:cNvSpPr/>
          <p:nvPr/>
        </p:nvSpPr>
        <p:spPr>
          <a:xfrm>
            <a:off x="914400" y="4297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45920" y="41330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Predict Risk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45920" y="450799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0E6F0"/>
                </a:solidFill>
              </a:rPr>
              <a:t>LightGBM predicts risk label and displays health index information.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309360" y="3886200"/>
            <a:ext cx="4983480" cy="1234440"/>
          </a:xfrm>
          <a:prstGeom prst="roundRect">
            <a:avLst>
              <a:gd name="adj" fmla="val 8889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24" name="Shape 22"/>
          <p:cNvSpPr/>
          <p:nvPr/>
        </p:nvSpPr>
        <p:spPr>
          <a:xfrm>
            <a:off x="6537960" y="420624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 wrap="square"/>
          <a:p/>
        </p:txBody>
      </p:sp>
      <p:sp>
        <p:nvSpPr>
          <p:cNvPr id="25" name="Text 23"/>
          <p:cNvSpPr/>
          <p:nvPr/>
        </p:nvSpPr>
        <p:spPr>
          <a:xfrm>
            <a:off x="6537960" y="4297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69480" y="41330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 GenAI Layers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69480" y="450799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200">
                <a:solidFill>
                  <a:srgbClr val="E0E6F0"/>
                </a:solidFill>
              </a:rPr>
              <a:t>Generate explanation, weekly insight, voice summary, uploaded-report summary and Q&amp;A.</a:t>
            </a:r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 Health Monitoring Guide | LightGBM + GenAI + RAG + Voice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 wrap="square"/>
          <a:p/>
        </p:txBody>
      </p:sp>
      <p:sp>
        <p:nvSpPr>
          <p:cNvPr id="3" name="Shape 1"/>
          <p:cNvSpPr/>
          <p:nvPr/>
        </p:nvSpPr>
        <p:spPr>
          <a:xfrm>
            <a:off x="9875520" y="-640080"/>
            <a:ext cx="3291840" cy="3291840"/>
          </a:xfrm>
          <a:prstGeom prst="arc">
            <a:avLst/>
          </a:prstGeom>
          <a:noFill/>
          <a:ln w="12700">
            <a:solidFill>
              <a:srgbClr val="1E40AF">
                <a:alpha val="55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4" name="Shape 2"/>
          <p:cNvSpPr/>
          <p:nvPr/>
        </p:nvSpPr>
        <p:spPr>
          <a:xfrm>
            <a:off x="-1005840" y="4937760"/>
            <a:ext cx="2926080" cy="2926080"/>
          </a:xfrm>
          <a:prstGeom prst="arc">
            <a:avLst/>
          </a:prstGeom>
          <a:noFill/>
          <a:ln w="12700">
            <a:solidFill>
              <a:srgbClr val="0E7490">
                <a:alpha val="4500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5" name="Text 3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&amp; Future Scope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Clear next steps to make the system stronger.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61288"/>
            <a:ext cx="11201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8" name="Shape 6"/>
          <p:cNvSpPr/>
          <p:nvPr/>
        </p:nvSpPr>
        <p:spPr>
          <a:xfrm>
            <a:off x="731520" y="1417320"/>
            <a:ext cx="5166360" cy="4343400"/>
          </a:xfrm>
          <a:prstGeom prst="roundRect">
            <a:avLst>
              <a:gd name="adj" fmla="val 2526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9" name="Text 7"/>
          <p:cNvSpPr/>
          <p:nvPr/>
        </p:nvSpPr>
        <p:spPr>
          <a:xfrm>
            <a:off x="1051560" y="173736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Current limitations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240280"/>
            <a:ext cx="393192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CBD5E1"/>
                </a:solidFill>
              </a:rPr>
              <a:t>Gemini free-tier quota may limit live demo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CBD5E1"/>
                </a:solidFill>
              </a:rPr>
              <a:t>Rare Critical class needs more samples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CBD5E1"/>
                </a:solidFill>
              </a:rPr>
              <a:t>System is a support tool, not a diagnosis tool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CBD5E1"/>
                </a:solidFill>
              </a:rPr>
              <a:t>Dataset quality affects model reliability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166360" cy="4343400"/>
          </a:xfrm>
          <a:prstGeom prst="roundRect">
            <a:avLst>
              <a:gd name="adj" fmla="val 2526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  <p:txBody>
          <a:bodyPr wrap="square"/>
          <a:p/>
        </p:txBody>
      </p:sp>
      <p:sp>
        <p:nvSpPr>
          <p:cNvPr id="12" name="Text 10"/>
          <p:cNvSpPr/>
          <p:nvPr/>
        </p:nvSpPr>
        <p:spPr>
          <a:xfrm>
            <a:off x="6583680" y="173736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Future improvements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2240280"/>
            <a:ext cx="393192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CBD5E1"/>
                </a:solidFill>
              </a:rPr>
              <a:t>Doctor/caregiver report generator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CBD5E1"/>
                </a:solidFill>
              </a:rPr>
              <a:t>Autonomous alert escalation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CBD5E1"/>
                </a:solidFill>
              </a:rPr>
              <a:t>Multilingual Q&amp;A and voice output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CBD5E1"/>
                </a:solidFill>
              </a:rPr>
              <a:t>Better rare-risk data collection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CBD5E1"/>
                </a:solidFill>
              </a:rPr>
              <a:t>Deployment with secure API management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1188720" y="608076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Final positioning: GenAI-enabled health monitoring assistant with early agentic elements.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65288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 Health Monitoring Guide | LightGBM + GenAI + RAG + Voice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App Interface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722376"/>
            <a:ext cx="5495544" cy="2249424"/>
          </a:xfrm>
          <a:prstGeom prst="roundRect">
            <a:avLst/>
          </a:prstGeom>
          <a:solidFill>
            <a:srgbClr val="1F2B44"/>
          </a:solidFill>
          <a:ln w="12700">
            <a:solidFill>
              <a:srgbClr val="3A4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app_interfac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49808"/>
            <a:ext cx="544068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980944"/>
            <a:ext cx="5440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C9D6E9"/>
                </a:solidFill>
              </a:rPr>
              <a:t>Patient history &amp; quick snapshot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722376"/>
            <a:ext cx="5495544" cy="2249424"/>
          </a:xfrm>
          <a:prstGeom prst="roundRect">
            <a:avLst/>
          </a:prstGeom>
          <a:solidFill>
            <a:srgbClr val="1F2B44"/>
          </a:solidFill>
          <a:ln w="12700">
            <a:solidFill>
              <a:srgbClr val="3A4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app_interfac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749808"/>
            <a:ext cx="5440680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08192" y="2980944"/>
            <a:ext cx="5440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C9D6E9"/>
                </a:solidFill>
              </a:rPr>
              <a:t>Today's input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282696"/>
            <a:ext cx="5495544" cy="2249424"/>
          </a:xfrm>
          <a:prstGeom prst="roundRect">
            <a:avLst/>
          </a:prstGeom>
          <a:solidFill>
            <a:srgbClr val="1F2B44"/>
          </a:solidFill>
          <a:ln w="12700">
            <a:solidFill>
              <a:srgbClr val="3A4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app_interfac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310128"/>
            <a:ext cx="5440680" cy="2194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" y="5541264"/>
            <a:ext cx="5440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C9D6E9"/>
                </a:solidFill>
              </a:rPr>
              <a:t>Predicted result &amp; explanation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3282696"/>
            <a:ext cx="5495544" cy="2249424"/>
          </a:xfrm>
          <a:prstGeom prst="roundRect">
            <a:avLst/>
          </a:prstGeom>
          <a:solidFill>
            <a:srgbClr val="1F2B44"/>
          </a:solidFill>
          <a:ln w="12700">
            <a:solidFill>
              <a:srgbClr val="3A4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app_interfac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3310128"/>
            <a:ext cx="5440680" cy="2194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08192" y="5541264"/>
            <a:ext cx="5440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9D6E9"/>
                </a:solidFill>
              </a:rPr>
              <a:t>Uploaded report summary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2889504"/>
            <a:ext cx="5495544" cy="2249424"/>
          </a:xfrm>
          <a:prstGeom prst="rect">
            <a:avLst/>
          </a:prstGeom>
          <a:solidFill>
            <a:srgbClr val="1F2B44"/>
          </a:solidFill>
          <a:ln w="12700">
            <a:solidFill>
              <a:srgbClr val="3A4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6" name="Picture 15" descr="app_interface_uploaded_rep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8192" y="2916936"/>
            <a:ext cx="5440680" cy="2194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Mahindra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Health Monitoring Guide</dc:title>
  <dc:subject>AI Health Monitoring Guide</dc:subject>
  <dc:creator>OpenAI</dc:creator>
  <cp:lastModifiedBy>OpenAI</cp:lastModifiedBy>
  <cp:revision>1</cp:revision>
  <dcterms:created xsi:type="dcterms:W3CDTF">2026-05-13T06:19:30Z</dcterms:created>
  <dcterms:modified xsi:type="dcterms:W3CDTF">2026-05-13T06:19:30Z</dcterms:modified>
</cp:coreProperties>
</file>